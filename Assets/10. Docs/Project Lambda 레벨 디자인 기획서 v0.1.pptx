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6215A1-24FC-44E8-AB91-6ACA2C70CA00}">
  <a:tblStyle styleId="{8D6215A1-24FC-44E8-AB91-6ACA2C70CA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0d597cb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c0d597cb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c0d597cb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c0d597cb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d8b0ac58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d8b0ac58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350b6039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350b6039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350b603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350b603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d8b0ac58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d8b0ac58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d8b0ac58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d8b0ac58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ef41a206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8ef41a206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레벨 디자인 기획서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레벨 루프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2299" lvl="0" marL="468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Project Lambda</a:t>
            </a:r>
            <a:r>
              <a:rPr lang="ko"/>
              <a:t>의 레벨은 B3, B2, B1 3가지 레벨로 이루어져 있다.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해당 레벨의 모든 퍼즐을 해결하면 다음 레벨로 가는 엘리베이터가 작동하고, 사용할 시 다음 레벨로 진입할 수 있다. 엘리베이터를 사용할 시 이전 레벨로 돌아갈 수 없다.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B1에서 엘리베이터를 사용할 시 지상으로 향하며 엔딩 컷신이 출력된다.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B3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{8D6215A1-24FC-44E8-AB91-6ACA2C70CA00}</a:tableStyleId>
              </a:tblPr>
              <a:tblGrid>
                <a:gridCol w="1073675"/>
                <a:gridCol w="4115725"/>
                <a:gridCol w="3121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접근 방식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비고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동면실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게임 시작 지점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전력실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제한 없음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로비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전력실에서 전력 공급 이후 접근 가능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수술실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전력실에서 전력 공급 이후 접근 가능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B3 </a:t>
                      </a:r>
                      <a:r>
                        <a:rPr lang="ko"/>
                        <a:t>엘리베이터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권한 레벨 2 &amp;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전력실에서 전력 공급 이후 접근 가능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로비와 연결되어 있어 추가 전력을 획득해야 접근 가능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1833875" y="1392250"/>
            <a:ext cx="1548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27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프롤로그: </a:t>
            </a:r>
            <a:r>
              <a:rPr lang="ko"/>
              <a:t>동면실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3382325" y="1392250"/>
            <a:ext cx="2154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173125" y="3990925"/>
            <a:ext cx="572700" cy="5727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5796075" y="4014775"/>
            <a:ext cx="1050300" cy="52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동면 캡슐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(스폰 포인트)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77" name="Google Shape;77;p16"/>
          <p:cNvCxnSpPr>
            <a:stCxn id="75" idx="6"/>
            <a:endCxn id="76" idx="1"/>
          </p:cNvCxnSpPr>
          <p:nvPr/>
        </p:nvCxnSpPr>
        <p:spPr>
          <a:xfrm>
            <a:off x="4745825" y="4277275"/>
            <a:ext cx="105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6"/>
          <p:cNvSpPr/>
          <p:nvPr/>
        </p:nvSpPr>
        <p:spPr>
          <a:xfrm>
            <a:off x="5442410" y="1823125"/>
            <a:ext cx="175200" cy="525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6159625" y="1955000"/>
            <a:ext cx="1275600" cy="26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복도와 연결된 문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80" name="Google Shape;80;p16"/>
          <p:cNvCxnSpPr>
            <a:stCxn id="78" idx="3"/>
            <a:endCxn id="79" idx="1"/>
          </p:cNvCxnSpPr>
          <p:nvPr/>
        </p:nvCxnSpPr>
        <p:spPr>
          <a:xfrm>
            <a:off x="5617610" y="2085625"/>
            <a:ext cx="5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6"/>
          <p:cNvSpPr/>
          <p:nvPr/>
        </p:nvSpPr>
        <p:spPr>
          <a:xfrm>
            <a:off x="3288060" y="1823125"/>
            <a:ext cx="175200" cy="525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3978350" y="1952325"/>
            <a:ext cx="910200" cy="266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연구실 문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83" name="Google Shape;83;p16"/>
          <p:cNvCxnSpPr>
            <a:endCxn id="82" idx="1"/>
          </p:cNvCxnSpPr>
          <p:nvPr/>
        </p:nvCxnSpPr>
        <p:spPr>
          <a:xfrm>
            <a:off x="3436250" y="2085675"/>
            <a:ext cx="5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6"/>
          <p:cNvSpPr/>
          <p:nvPr/>
        </p:nvSpPr>
        <p:spPr>
          <a:xfrm>
            <a:off x="3934379" y="3869750"/>
            <a:ext cx="175200" cy="175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3533650" y="3153525"/>
            <a:ext cx="976800" cy="52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동면 장치 작동 스위치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86" name="Google Shape;86;p16"/>
          <p:cNvCxnSpPr>
            <a:stCxn id="85" idx="2"/>
            <a:endCxn id="84" idx="0"/>
          </p:cNvCxnSpPr>
          <p:nvPr/>
        </p:nvCxnSpPr>
        <p:spPr>
          <a:xfrm>
            <a:off x="4022050" y="3678525"/>
            <a:ext cx="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/>
          <p:nvPr/>
        </p:nvSpPr>
        <p:spPr>
          <a:xfrm>
            <a:off x="5087150" y="25623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5087150" y="29916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 rot="-1800543">
            <a:off x="4726767" y="3491330"/>
            <a:ext cx="355103" cy="355103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5087142" y="386961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816729" y="3581275"/>
            <a:ext cx="175200" cy="175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796075" y="3547050"/>
            <a:ext cx="801000" cy="2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AI 단말기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93" name="Google Shape;93;p16"/>
          <p:cNvCxnSpPr>
            <a:stCxn id="91" idx="3"/>
            <a:endCxn id="92" idx="1"/>
          </p:cNvCxnSpPr>
          <p:nvPr/>
        </p:nvCxnSpPr>
        <p:spPr>
          <a:xfrm flipH="1" rot="10800000">
            <a:off x="4991929" y="3661075"/>
            <a:ext cx="8040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6"/>
          <p:cNvSpPr/>
          <p:nvPr/>
        </p:nvSpPr>
        <p:spPr>
          <a:xfrm>
            <a:off x="6241875" y="553775"/>
            <a:ext cx="228000" cy="2280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646987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획득 가능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642125" y="553775"/>
            <a:ext cx="228000" cy="228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487012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인터랙션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241875" y="862325"/>
            <a:ext cx="228000" cy="2280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646987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잠긴 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642125" y="862325"/>
            <a:ext cx="228000" cy="228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487012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관찰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7713275" y="553775"/>
            <a:ext cx="228000" cy="2280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794127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장식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7713275" y="862325"/>
            <a:ext cx="228000" cy="228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794127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열린 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1833875" y="4205950"/>
            <a:ext cx="1548300" cy="4851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886900" y="37797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2950500" y="4334500"/>
            <a:ext cx="228000" cy="228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1966325" y="4295650"/>
            <a:ext cx="713700" cy="305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FFFFFF"/>
                </a:solidFill>
              </a:rPr>
              <a:t>컴퓨터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10" name="Google Shape;110;p16"/>
          <p:cNvCxnSpPr>
            <a:stCxn id="109" idx="3"/>
            <a:endCxn id="108" idx="1"/>
          </p:cNvCxnSpPr>
          <p:nvPr/>
        </p:nvCxnSpPr>
        <p:spPr>
          <a:xfrm>
            <a:off x="2680025" y="4448500"/>
            <a:ext cx="270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6"/>
          <p:cNvSpPr/>
          <p:nvPr/>
        </p:nvSpPr>
        <p:spPr>
          <a:xfrm>
            <a:off x="3600042" y="423616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3529692" y="2618192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 rot="5400000">
            <a:off x="623255" y="2624875"/>
            <a:ext cx="2817300" cy="36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1833875" y="1392250"/>
            <a:ext cx="1548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>
            <p:ph type="title"/>
          </p:nvPr>
        </p:nvSpPr>
        <p:spPr>
          <a:xfrm>
            <a:off x="311700" y="445025"/>
            <a:ext cx="28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프롤로그: 동면실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3382325" y="1392250"/>
            <a:ext cx="2154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173125" y="3990925"/>
            <a:ext cx="572700" cy="5727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442410" y="1823125"/>
            <a:ext cx="175200" cy="525000"/>
          </a:xfrm>
          <a:prstGeom prst="rect">
            <a:avLst/>
          </a:prstGeom>
          <a:solidFill>
            <a:srgbClr val="93C47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3288060" y="1823125"/>
            <a:ext cx="175200" cy="525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3934379" y="3869750"/>
            <a:ext cx="175200" cy="175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087150" y="25623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087150" y="29916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 rot="-1800543">
            <a:off x="4726767" y="3491330"/>
            <a:ext cx="355103" cy="355103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087142" y="386961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4816729" y="3581275"/>
            <a:ext cx="175200" cy="175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241875" y="553775"/>
            <a:ext cx="228000" cy="2280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46987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획득 가능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642125" y="553775"/>
            <a:ext cx="228000" cy="228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87012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인터랙션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6241875" y="862325"/>
            <a:ext cx="228000" cy="2280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46987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잠긴 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642125" y="862325"/>
            <a:ext cx="228000" cy="228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87012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관찰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7713275" y="553775"/>
            <a:ext cx="228000" cy="2280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94127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장식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713275" y="862325"/>
            <a:ext cx="228000" cy="228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94127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열린 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1833875" y="4205950"/>
            <a:ext cx="1548300" cy="4851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2886900" y="37797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2950500" y="4334500"/>
            <a:ext cx="228000" cy="228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3600042" y="423616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3529692" y="2618192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7"/>
          <p:cNvCxnSpPr>
            <a:stCxn id="121" idx="0"/>
          </p:cNvCxnSpPr>
          <p:nvPr/>
        </p:nvCxnSpPr>
        <p:spPr>
          <a:xfrm rot="-5400000">
            <a:off x="4328675" y="2212825"/>
            <a:ext cx="1908900" cy="1647300"/>
          </a:xfrm>
          <a:prstGeom prst="bentConnector3">
            <a:avLst>
              <a:gd fmla="val 99294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7"/>
          <p:cNvSpPr/>
          <p:nvPr/>
        </p:nvSpPr>
        <p:spPr>
          <a:xfrm>
            <a:off x="4778896" y="3123975"/>
            <a:ext cx="250800" cy="2508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cxnSp>
        <p:nvCxnSpPr>
          <p:cNvPr id="149" name="Google Shape;149;p17"/>
          <p:cNvCxnSpPr>
            <a:stCxn id="148" idx="4"/>
            <a:endCxn id="129" idx="0"/>
          </p:cNvCxnSpPr>
          <p:nvPr/>
        </p:nvCxnSpPr>
        <p:spPr>
          <a:xfrm>
            <a:off x="4904296" y="3374775"/>
            <a:ext cx="0" cy="2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17"/>
          <p:cNvSpPr/>
          <p:nvPr/>
        </p:nvSpPr>
        <p:spPr>
          <a:xfrm>
            <a:off x="3896571" y="3411850"/>
            <a:ext cx="250800" cy="2508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cxnSp>
        <p:nvCxnSpPr>
          <p:cNvPr id="151" name="Google Shape;151;p17"/>
          <p:cNvCxnSpPr>
            <a:stCxn id="150" idx="4"/>
            <a:endCxn id="124" idx="0"/>
          </p:cNvCxnSpPr>
          <p:nvPr/>
        </p:nvCxnSpPr>
        <p:spPr>
          <a:xfrm>
            <a:off x="4021971" y="3662650"/>
            <a:ext cx="0" cy="20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7"/>
          <p:cNvSpPr txBox="1"/>
          <p:nvPr>
            <p:ph type="title"/>
          </p:nvPr>
        </p:nvSpPr>
        <p:spPr>
          <a:xfrm>
            <a:off x="311700" y="781775"/>
            <a:ext cx="12594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620"/>
              <a:t>유저 동선</a:t>
            </a:r>
            <a:endParaRPr sz="1620"/>
          </a:p>
        </p:txBody>
      </p:sp>
      <p:sp>
        <p:nvSpPr>
          <p:cNvPr id="153" name="Google Shape;153;p17"/>
          <p:cNvSpPr txBox="1"/>
          <p:nvPr/>
        </p:nvSpPr>
        <p:spPr>
          <a:xfrm>
            <a:off x="5942125" y="1513300"/>
            <a:ext cx="1275600" cy="43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2와 상호작용 시 잠금 해제 가능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54" name="Google Shape;154;p17"/>
          <p:cNvCxnSpPr>
            <a:stCxn id="122" idx="3"/>
            <a:endCxn id="153" idx="1"/>
          </p:cNvCxnSpPr>
          <p:nvPr/>
        </p:nvCxnSpPr>
        <p:spPr>
          <a:xfrm flipH="1" rot="10800000">
            <a:off x="5617610" y="1733125"/>
            <a:ext cx="324600" cy="3525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7"/>
          <p:cNvSpPr/>
          <p:nvPr/>
        </p:nvSpPr>
        <p:spPr>
          <a:xfrm rot="5400000">
            <a:off x="623255" y="2624875"/>
            <a:ext cx="2817300" cy="36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311700" y="445025"/>
            <a:ext cx="611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프롤로그: </a:t>
            </a:r>
            <a:r>
              <a:rPr lang="ko"/>
              <a:t>동면실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6700925" y="6858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설명</a:t>
            </a:r>
            <a:endParaRPr sz="1200"/>
          </a:p>
        </p:txBody>
      </p:sp>
      <p:sp>
        <p:nvSpPr>
          <p:cNvPr id="162" name="Google Shape;162;p18"/>
          <p:cNvSpPr/>
          <p:nvPr/>
        </p:nvSpPr>
        <p:spPr>
          <a:xfrm>
            <a:off x="6700925" y="973575"/>
            <a:ext cx="2131500" cy="136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0" lvl="0" marL="2160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불치병을 치료하기 위해 동면 상태에 들어갔던 주인공이지만, 알 수 없는 이유로 원래 있던 병실이 아닌 하얀 연구실에서 예정보다 일찍 깨어나게 된다. 주변에는 어떠한 인기척도 느껴지지 않는다.</a:t>
            </a:r>
            <a:endParaRPr sz="1000"/>
          </a:p>
        </p:txBody>
      </p:sp>
      <p:sp>
        <p:nvSpPr>
          <p:cNvPr id="163" name="Google Shape;163;p18"/>
          <p:cNvSpPr/>
          <p:nvPr/>
        </p:nvSpPr>
        <p:spPr>
          <a:xfrm>
            <a:off x="6700925" y="23385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다음 목표</a:t>
            </a:r>
            <a:endParaRPr sz="1200"/>
          </a:p>
        </p:txBody>
      </p:sp>
      <p:sp>
        <p:nvSpPr>
          <p:cNvPr id="164" name="Google Shape;164;p18"/>
          <p:cNvSpPr/>
          <p:nvPr/>
        </p:nvSpPr>
        <p:spPr>
          <a:xfrm>
            <a:off x="6700925" y="2626275"/>
            <a:ext cx="2131500" cy="644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0" lvl="0" marL="2160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동면 장치 재가동하기</a:t>
            </a:r>
            <a:endParaRPr sz="1000"/>
          </a:p>
        </p:txBody>
      </p:sp>
      <p:sp>
        <p:nvSpPr>
          <p:cNvPr id="165" name="Google Shape;165;p18"/>
          <p:cNvSpPr/>
          <p:nvPr/>
        </p:nvSpPr>
        <p:spPr>
          <a:xfrm>
            <a:off x="6700925" y="32709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주요 오브젝트</a:t>
            </a:r>
            <a:endParaRPr sz="1200"/>
          </a:p>
        </p:txBody>
      </p:sp>
      <p:sp>
        <p:nvSpPr>
          <p:cNvPr id="166" name="Google Shape;166;p18"/>
          <p:cNvSpPr/>
          <p:nvPr/>
        </p:nvSpPr>
        <p:spPr>
          <a:xfrm>
            <a:off x="6700925" y="3558675"/>
            <a:ext cx="2131500" cy="1258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0" lvl="0" marL="2160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동면 장치 작동 스위치(1) (인터랙션)</a:t>
            </a:r>
            <a:endParaRPr sz="1000"/>
          </a:p>
        </p:txBody>
      </p:sp>
      <p:sp>
        <p:nvSpPr>
          <p:cNvPr id="167" name="Google Shape;167;p18"/>
          <p:cNvSpPr/>
          <p:nvPr/>
        </p:nvSpPr>
        <p:spPr>
          <a:xfrm>
            <a:off x="1833875" y="1392250"/>
            <a:ext cx="1548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3382325" y="1392250"/>
            <a:ext cx="2154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4173125" y="3990925"/>
            <a:ext cx="572700" cy="5727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442410" y="1823125"/>
            <a:ext cx="175200" cy="525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3288060" y="1823125"/>
            <a:ext cx="175200" cy="525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3934379" y="3869750"/>
            <a:ext cx="175200" cy="175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087150" y="25623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087150" y="29916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 rot="-1800543">
            <a:off x="4726767" y="3491330"/>
            <a:ext cx="355103" cy="355103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087142" y="386961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816729" y="3581275"/>
            <a:ext cx="175200" cy="175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1833875" y="4205950"/>
            <a:ext cx="1548300" cy="4851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2886900" y="37797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2950500" y="4334500"/>
            <a:ext cx="228000" cy="228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3600042" y="423616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3529692" y="2618192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4778896" y="3123975"/>
            <a:ext cx="250800" cy="2508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cxnSp>
        <p:nvCxnSpPr>
          <p:cNvPr id="184" name="Google Shape;184;p18"/>
          <p:cNvCxnSpPr>
            <a:stCxn id="183" idx="4"/>
            <a:endCxn id="177" idx="0"/>
          </p:cNvCxnSpPr>
          <p:nvPr/>
        </p:nvCxnSpPr>
        <p:spPr>
          <a:xfrm>
            <a:off x="4904296" y="3374775"/>
            <a:ext cx="0" cy="2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3896571" y="3411850"/>
            <a:ext cx="250800" cy="2508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cxnSp>
        <p:nvCxnSpPr>
          <p:cNvPr id="186" name="Google Shape;186;p18"/>
          <p:cNvCxnSpPr>
            <a:stCxn id="185" idx="4"/>
            <a:endCxn id="172" idx="0"/>
          </p:cNvCxnSpPr>
          <p:nvPr/>
        </p:nvCxnSpPr>
        <p:spPr>
          <a:xfrm>
            <a:off x="4021971" y="3662650"/>
            <a:ext cx="0" cy="20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3691930" y="3273375"/>
            <a:ext cx="651900" cy="931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 rot="5400000">
            <a:off x="623255" y="2624875"/>
            <a:ext cx="2817300" cy="36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311700" y="445025"/>
            <a:ext cx="611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ko"/>
              <a:t>프롤로그: 동면실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700925" y="6858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설명</a:t>
            </a:r>
            <a:endParaRPr sz="1200"/>
          </a:p>
        </p:txBody>
      </p:sp>
      <p:sp>
        <p:nvSpPr>
          <p:cNvPr id="195" name="Google Shape;195;p19"/>
          <p:cNvSpPr/>
          <p:nvPr/>
        </p:nvSpPr>
        <p:spPr>
          <a:xfrm>
            <a:off x="6700925" y="973575"/>
            <a:ext cx="2131500" cy="136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0" lvl="0" marL="2160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동면 장치를 재가동하려 했지만, 최고 권한이 필요하다는 음성을 듣고 주변을 둘러본다. 기구들이 난잡하게 어질러져 있고, 오래도록 사람의 손길이 닿지 않은 듯 먼지가 쌓여 있다.</a:t>
            </a:r>
            <a:endParaRPr sz="1000"/>
          </a:p>
        </p:txBody>
      </p:sp>
      <p:sp>
        <p:nvSpPr>
          <p:cNvPr id="196" name="Google Shape;196;p19"/>
          <p:cNvSpPr/>
          <p:nvPr/>
        </p:nvSpPr>
        <p:spPr>
          <a:xfrm>
            <a:off x="6700925" y="23385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다음 목표</a:t>
            </a:r>
            <a:endParaRPr sz="1200"/>
          </a:p>
        </p:txBody>
      </p:sp>
      <p:sp>
        <p:nvSpPr>
          <p:cNvPr id="197" name="Google Shape;197;p19"/>
          <p:cNvSpPr/>
          <p:nvPr/>
        </p:nvSpPr>
        <p:spPr>
          <a:xfrm>
            <a:off x="6700925" y="2626275"/>
            <a:ext cx="2131500" cy="644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0" lvl="0" marL="2160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주변 탐색하기</a:t>
            </a:r>
            <a:br>
              <a:rPr lang="ko" sz="1000"/>
            </a:br>
            <a:r>
              <a:rPr i="1" lang="ko" sz="900"/>
              <a:t>(숨겨진 목표: AI 단말기 획득하기)</a:t>
            </a:r>
            <a:endParaRPr i="1" sz="900"/>
          </a:p>
        </p:txBody>
      </p:sp>
      <p:sp>
        <p:nvSpPr>
          <p:cNvPr id="198" name="Google Shape;198;p19"/>
          <p:cNvSpPr/>
          <p:nvPr/>
        </p:nvSpPr>
        <p:spPr>
          <a:xfrm>
            <a:off x="6700925" y="32709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주요 오브젝트</a:t>
            </a:r>
            <a:endParaRPr sz="1200"/>
          </a:p>
        </p:txBody>
      </p:sp>
      <p:sp>
        <p:nvSpPr>
          <p:cNvPr id="199" name="Google Shape;199;p19"/>
          <p:cNvSpPr/>
          <p:nvPr/>
        </p:nvSpPr>
        <p:spPr>
          <a:xfrm>
            <a:off x="6700925" y="3558675"/>
            <a:ext cx="2131500" cy="1258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0" lvl="0" marL="2160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AI 단말기(2) (귀속 아이템)</a:t>
            </a:r>
            <a:endParaRPr sz="1000"/>
          </a:p>
          <a:p>
            <a:pPr indent="-171499" lvl="1" marL="468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동면 장치를 재가동하기 전까지는 상호작용할 수 없음</a:t>
            </a:r>
            <a:endParaRPr sz="1000"/>
          </a:p>
        </p:txBody>
      </p:sp>
      <p:sp>
        <p:nvSpPr>
          <p:cNvPr id="200" name="Google Shape;200;p19"/>
          <p:cNvSpPr/>
          <p:nvPr/>
        </p:nvSpPr>
        <p:spPr>
          <a:xfrm>
            <a:off x="1833875" y="1392250"/>
            <a:ext cx="1548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3382325" y="1392250"/>
            <a:ext cx="2154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4173125" y="3990925"/>
            <a:ext cx="572700" cy="5727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442410" y="1823125"/>
            <a:ext cx="175200" cy="525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3288060" y="1823125"/>
            <a:ext cx="175200" cy="525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3934379" y="3869750"/>
            <a:ext cx="175200" cy="175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087150" y="25623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087150" y="29916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 rot="-1800543">
            <a:off x="4726767" y="3491330"/>
            <a:ext cx="355103" cy="355103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087142" y="386961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4816729" y="3581275"/>
            <a:ext cx="175200" cy="175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1833875" y="4205950"/>
            <a:ext cx="1548300" cy="4851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2886900" y="37797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2950500" y="4334500"/>
            <a:ext cx="228000" cy="228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3600042" y="423616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3529692" y="2618192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4778896" y="3123975"/>
            <a:ext cx="250800" cy="2508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cxnSp>
        <p:nvCxnSpPr>
          <p:cNvPr id="217" name="Google Shape;217;p19"/>
          <p:cNvCxnSpPr>
            <a:stCxn id="216" idx="4"/>
            <a:endCxn id="210" idx="0"/>
          </p:cNvCxnSpPr>
          <p:nvPr/>
        </p:nvCxnSpPr>
        <p:spPr>
          <a:xfrm>
            <a:off x="4904296" y="3374775"/>
            <a:ext cx="0" cy="2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19"/>
          <p:cNvSpPr/>
          <p:nvPr/>
        </p:nvSpPr>
        <p:spPr>
          <a:xfrm>
            <a:off x="3896571" y="3411850"/>
            <a:ext cx="250800" cy="2508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cxnSp>
        <p:nvCxnSpPr>
          <p:cNvPr id="219" name="Google Shape;219;p19"/>
          <p:cNvCxnSpPr>
            <a:stCxn id="218" idx="4"/>
            <a:endCxn id="205" idx="0"/>
          </p:cNvCxnSpPr>
          <p:nvPr/>
        </p:nvCxnSpPr>
        <p:spPr>
          <a:xfrm>
            <a:off x="4021971" y="3662650"/>
            <a:ext cx="0" cy="20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19"/>
          <p:cNvSpPr/>
          <p:nvPr/>
        </p:nvSpPr>
        <p:spPr>
          <a:xfrm>
            <a:off x="4417725" y="2986375"/>
            <a:ext cx="857400" cy="105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 rot="5400000">
            <a:off x="623255" y="2624875"/>
            <a:ext cx="2817300" cy="36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/>
          <p:nvPr/>
        </p:nvSpPr>
        <p:spPr>
          <a:xfrm>
            <a:off x="5101300" y="1478775"/>
            <a:ext cx="857400" cy="105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 txBox="1"/>
          <p:nvPr>
            <p:ph type="title"/>
          </p:nvPr>
        </p:nvSpPr>
        <p:spPr>
          <a:xfrm>
            <a:off x="311700" y="445025"/>
            <a:ext cx="611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프롤로그: 동면실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6700925" y="6858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설명</a:t>
            </a:r>
            <a:endParaRPr sz="1200"/>
          </a:p>
        </p:txBody>
      </p:sp>
      <p:sp>
        <p:nvSpPr>
          <p:cNvPr id="229" name="Google Shape;229;p20"/>
          <p:cNvSpPr/>
          <p:nvPr/>
        </p:nvSpPr>
        <p:spPr>
          <a:xfrm>
            <a:off x="6700925" y="973575"/>
            <a:ext cx="2131500" cy="136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0" lvl="0" marL="2160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주변을 탐색하다 발견한 AI 단말기를 통해 단편적인 정보를 제공받고, 주인공은 권한 상승을 목표로 건물 곳곳을 탐색해 보기로 결정한다. AI의 도움을 받아 </a:t>
            </a:r>
            <a:r>
              <a:rPr lang="ko" sz="1000"/>
              <a:t>복도로 향하는 문을 열고 동면실 밖으로 나선다.</a:t>
            </a:r>
            <a:endParaRPr sz="1000"/>
          </a:p>
        </p:txBody>
      </p:sp>
      <p:sp>
        <p:nvSpPr>
          <p:cNvPr id="230" name="Google Shape;230;p20"/>
          <p:cNvSpPr/>
          <p:nvPr/>
        </p:nvSpPr>
        <p:spPr>
          <a:xfrm>
            <a:off x="6700925" y="23385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다음 </a:t>
            </a:r>
            <a:r>
              <a:rPr lang="ko" sz="1200"/>
              <a:t>목표</a:t>
            </a:r>
            <a:endParaRPr sz="1200"/>
          </a:p>
        </p:txBody>
      </p:sp>
      <p:sp>
        <p:nvSpPr>
          <p:cNvPr id="231" name="Google Shape;231;p20"/>
          <p:cNvSpPr/>
          <p:nvPr/>
        </p:nvSpPr>
        <p:spPr>
          <a:xfrm>
            <a:off x="6700925" y="2626275"/>
            <a:ext cx="2131500" cy="644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850" lvl="0" marL="2160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000"/>
              <a:t>현재 상황 파악하기(메인 목표)</a:t>
            </a:r>
            <a:endParaRPr sz="1000"/>
          </a:p>
        </p:txBody>
      </p:sp>
      <p:sp>
        <p:nvSpPr>
          <p:cNvPr id="232" name="Google Shape;232;p20"/>
          <p:cNvSpPr/>
          <p:nvPr/>
        </p:nvSpPr>
        <p:spPr>
          <a:xfrm>
            <a:off x="6700925" y="3270975"/>
            <a:ext cx="2131500" cy="28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주요 오브젝트</a:t>
            </a:r>
            <a:endParaRPr sz="1200"/>
          </a:p>
        </p:txBody>
      </p:sp>
      <p:sp>
        <p:nvSpPr>
          <p:cNvPr id="233" name="Google Shape;233;p20"/>
          <p:cNvSpPr/>
          <p:nvPr/>
        </p:nvSpPr>
        <p:spPr>
          <a:xfrm>
            <a:off x="6700925" y="3558675"/>
            <a:ext cx="2131500" cy="1258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500" lvl="0" marL="2160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복도로 향하는 문</a:t>
            </a:r>
            <a:endParaRPr sz="1000"/>
          </a:p>
          <a:p>
            <a:pPr indent="-171499" lvl="1" marL="468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ko" sz="1000"/>
              <a:t>AI 단말기를 얻지 않고 상호작용할 시 ‘접근 거부’ 음성이 나오며 문이 열리지 않음</a:t>
            </a:r>
            <a:endParaRPr sz="1000"/>
          </a:p>
        </p:txBody>
      </p:sp>
      <p:sp>
        <p:nvSpPr>
          <p:cNvPr id="234" name="Google Shape;234;p20"/>
          <p:cNvSpPr/>
          <p:nvPr/>
        </p:nvSpPr>
        <p:spPr>
          <a:xfrm>
            <a:off x="1833875" y="1392250"/>
            <a:ext cx="1548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3382325" y="1392250"/>
            <a:ext cx="2154300" cy="3298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4173125" y="3990925"/>
            <a:ext cx="572700" cy="572700"/>
          </a:xfrm>
          <a:prstGeom prst="ellipse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5442410" y="1823125"/>
            <a:ext cx="175200" cy="525000"/>
          </a:xfrm>
          <a:prstGeom prst="rect">
            <a:avLst/>
          </a:prstGeom>
          <a:solidFill>
            <a:srgbClr val="93C47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3288060" y="1823125"/>
            <a:ext cx="175200" cy="525000"/>
          </a:xfrm>
          <a:prstGeom prst="rect">
            <a:avLst/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3934379" y="3869750"/>
            <a:ext cx="175200" cy="1752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5087150" y="25623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5087150" y="29916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 rot="-1800543">
            <a:off x="4726767" y="3491330"/>
            <a:ext cx="355103" cy="355103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5087142" y="386961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816729" y="3581275"/>
            <a:ext cx="175200" cy="175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1847300" y="4205950"/>
            <a:ext cx="1548300" cy="485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2886900" y="3779750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 rot="5400000">
            <a:off x="623255" y="2624875"/>
            <a:ext cx="2817300" cy="36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2950500" y="4334500"/>
            <a:ext cx="228000" cy="228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3600042" y="4236167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3529692" y="2618192"/>
            <a:ext cx="355200" cy="3552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4778896" y="3123975"/>
            <a:ext cx="250800" cy="2508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</a:t>
            </a:r>
            <a:endParaRPr/>
          </a:p>
        </p:txBody>
      </p:sp>
      <p:cxnSp>
        <p:nvCxnSpPr>
          <p:cNvPr id="252" name="Google Shape;252;p20"/>
          <p:cNvCxnSpPr>
            <a:stCxn id="251" idx="4"/>
            <a:endCxn id="244" idx="0"/>
          </p:cNvCxnSpPr>
          <p:nvPr/>
        </p:nvCxnSpPr>
        <p:spPr>
          <a:xfrm>
            <a:off x="4904296" y="3374775"/>
            <a:ext cx="0" cy="2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0"/>
          <p:cNvSpPr/>
          <p:nvPr/>
        </p:nvSpPr>
        <p:spPr>
          <a:xfrm>
            <a:off x="3896571" y="3411850"/>
            <a:ext cx="250800" cy="2508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endParaRPr/>
          </a:p>
        </p:txBody>
      </p:sp>
      <p:cxnSp>
        <p:nvCxnSpPr>
          <p:cNvPr id="254" name="Google Shape;254;p20"/>
          <p:cNvCxnSpPr>
            <a:stCxn id="253" idx="4"/>
            <a:endCxn id="239" idx="0"/>
          </p:cNvCxnSpPr>
          <p:nvPr/>
        </p:nvCxnSpPr>
        <p:spPr>
          <a:xfrm>
            <a:off x="4021971" y="3662650"/>
            <a:ext cx="0" cy="20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>
            <p:ph type="title"/>
          </p:nvPr>
        </p:nvSpPr>
        <p:spPr>
          <a:xfrm>
            <a:off x="311700" y="445025"/>
            <a:ext cx="27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B3</a:t>
            </a:r>
            <a:r>
              <a:rPr lang="ko"/>
              <a:t>층 복도</a:t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6241875" y="553775"/>
            <a:ext cx="228000" cy="2280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46987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획득 가능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642125" y="553775"/>
            <a:ext cx="228000" cy="228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487012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인터랙션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6241875" y="862325"/>
            <a:ext cx="228000" cy="2280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46987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잠긴 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642125" y="862325"/>
            <a:ext cx="228000" cy="2280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487012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관찰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7713275" y="553775"/>
            <a:ext cx="228000" cy="2280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7941275" y="55377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장식 오브젝트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713275" y="862325"/>
            <a:ext cx="228000" cy="228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7941275" y="862325"/>
            <a:ext cx="127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열린 문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272" name="Google Shape;2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52400" y="1242725"/>
            <a:ext cx="6000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/>
          <p:nvPr/>
        </p:nvSpPr>
        <p:spPr>
          <a:xfrm>
            <a:off x="534725" y="3047050"/>
            <a:ext cx="1672200" cy="16635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동면실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1602925" y="1502301"/>
            <a:ext cx="1164300" cy="13620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전력실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4683950" y="2775451"/>
            <a:ext cx="1164300" cy="13620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B3 </a:t>
            </a:r>
            <a:r>
              <a:rPr lang="ko"/>
              <a:t>로비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