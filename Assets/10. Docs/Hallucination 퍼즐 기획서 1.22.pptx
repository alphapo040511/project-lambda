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5" r:id="rId4"/>
    <p:sldId id="262" r:id="rId5"/>
    <p:sldId id="264" r:id="rId6"/>
    <p:sldId id="266" r:id="rId7"/>
    <p:sldId id="267" r:id="rId8"/>
    <p:sldId id="268" r:id="rId9"/>
    <p:sldId id="271" r:id="rId10"/>
    <p:sldId id="270" r:id="rId11"/>
    <p:sldId id="269" r:id="rId12"/>
    <p:sldId id="272" r:id="rId13"/>
    <p:sldId id="273" r:id="rId14"/>
    <p:sldId id="274" r:id="rId15"/>
    <p:sldId id="275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6E6"/>
    <a:srgbClr val="000000"/>
    <a:srgbClr val="EF6767"/>
    <a:srgbClr val="EA3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6AB3C6-B1BA-4FA1-AA97-391647571E20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DD6045-C036-4CB1-AC85-89F7411ECC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7806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D6045-C036-4CB1-AC85-89F7411ECCF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943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D6045-C036-4CB1-AC85-89F7411ECCF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358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8F39A8-BCB5-AD66-E71C-0A5CA8BC80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AF53398-1737-680E-B982-CEDDB0E36F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C40E11-8D2E-60E8-3DF1-835CA3D91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647A31-2868-8C0A-D9E3-0701F32CC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7BC037-52E5-60FA-2AEC-9DE5BDBB5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735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DFE5A-88B7-2F0C-C840-15580E6DE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09" y="292576"/>
            <a:ext cx="10515600" cy="759966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6D4D54-F695-822F-7155-C973FFC8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509" y="1253331"/>
            <a:ext cx="10515600" cy="4351338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DE664E-6F91-D58C-53DB-1FAF85030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686D5B-7900-61DD-83CB-7ED6A5758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E2002B-25BA-7441-0D85-3580F7A37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54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DFD76-D1CC-BF28-319E-84A11E0F0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464D89-CE3E-47FB-8F07-BA41374D1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512170-946E-361E-9664-2BBE31D47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EC4692-360C-1B02-6C5C-773AD5F55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9FA3E3-08C6-E7A7-F28C-C35052AAA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170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0AEBD6-B991-2BC7-CF49-A22B0DC2F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8788A4-6EE5-09B3-C6B1-0C9A582DFA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85C2D57-FBFE-D1B3-24FC-B5C2EBD5B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AE6538-920D-9EB6-9C2D-AB19AFE0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0B5FC3-9EA5-4FD5-82CE-DA2E3C865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E16AD2-4023-45AA-33BC-33BD72CEF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7739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22AA4B-B44D-19D2-FA49-22DAB971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DA0FB2-1B99-B538-FF03-E3CD76C72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A54B24A-CA6A-B4DB-424D-6319203418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73A234-E1E7-885C-20D7-3503750FDF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FBBB016-DBEB-B84C-1C6C-8147B51751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4BA4865-3DAC-B807-0F43-536395A73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9A9AE1D-A41C-F370-4453-7BE0CE977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A75409B-CCD4-CC93-A7D9-F34C09CD0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403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AFBC37-4D1B-2D55-9B38-4312DE451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BBC7820-E23E-1DB9-9448-866DAC564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BD4EAF1-E1C8-FCF4-E4F5-13ACA5DC9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770BC6D-9164-D3E1-9A2D-509EF0C3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7229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5F56190-8D6D-1119-E9AD-F0F29B69A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B5052C3-2E11-A1D4-AA95-D9294838B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53CA5D-9E2F-80FC-3F36-DFDF68179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009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0D9FF9-F941-C816-7BBD-23265BF71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C8A7D4-4317-F5BE-6E9F-B6684E1C4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D104D1-4FFC-A7BD-3A42-5AD4C0E0CA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9E55BB-8686-7861-7BDA-7B4E66282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C59A88-15B8-6B91-8133-82F9395DF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44A7DE-1770-47B2-36DC-0F03BA203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67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229A21-50A9-C73C-9B29-9399DC034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C4AA84D-7558-F6DB-5675-BDAFDA5727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15B04E-F701-2305-0F3C-CEEB246F7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EFEF15-B449-5AFB-97A3-E36188785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DF2DC4-F8D5-8B17-15D2-3F53B4EFF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6CA8CA-CAC7-320F-1E67-D1C9BA228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8612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F83804-7429-2A6E-2527-530A5B5CC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5D722B-EEF7-21A2-0500-8AA8F4C3E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7F3985-A726-932A-60C5-651D1BDEC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AF9B98-0DC0-0DE9-D92C-793EE9653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88B340-3159-0F34-97FA-C5F412F68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279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2DAA0A6-58F3-EF7F-EA94-2617320B0D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A47E5D-FD11-3369-1664-7EA91B2C75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4B1522-5438-6479-4F1D-FE9A555CE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906D8-CCF0-4EDF-B4EF-C5D91FC7F5BD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CA0EFB-07B8-155B-7F01-3AEB16F3F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47D4E3-576E-74AB-B362-8876BF866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78592-72FC-49A8-A0B6-C12F4AA626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343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7EA2085-9052-E5D0-0815-A52270BE9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679CE2-11B9-0E69-5B12-14F32F6BA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1B2453-4BDF-9AD2-F520-6D127C5824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FE906D8-CCF0-4EDF-B4EF-C5D91FC7F5BD}" type="datetimeFigureOut">
              <a:rPr lang="ko-KR" altLang="en-US" smtClean="0"/>
              <a:pPr/>
              <a:t>2025-11-24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5A11C3-7CAE-6A02-4F9F-125501CA4E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D329FE-212F-CF53-A937-1AD4A2FB0F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DDD78592-72FC-49A8-A0B6-C12F4AA6269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0712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 KR" panose="020B0200000000000000" pitchFamily="50" charset="-127"/>
          <a:ea typeface="Noto Sans KR" panose="020B0200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5799CC-6A9B-E2CF-99D0-69837F9ADE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9196" y="1122363"/>
            <a:ext cx="4308629" cy="546639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Hallucinate </a:t>
            </a:r>
            <a:r>
              <a:rPr lang="ko-KR" altLang="en-US" sz="2800" dirty="0"/>
              <a:t>퍼즐 기획서</a:t>
            </a:r>
          </a:p>
        </p:txBody>
      </p:sp>
    </p:spTree>
    <p:extLst>
      <p:ext uri="{BB962C8B-B14F-4D97-AF65-F5344CB8AC3E}">
        <p14:creationId xmlns:p14="http://schemas.microsoft.com/office/powerpoint/2010/main" val="3617652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917FAB-ED91-B10E-5C9C-0DD72EC8D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수정 내역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2CDF233-7085-0B43-12FB-45FD0184F0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570228"/>
              </p:ext>
            </p:extLst>
          </p:nvPr>
        </p:nvGraphicFramePr>
        <p:xfrm>
          <a:off x="2032000" y="2316480"/>
          <a:ext cx="8128001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24264">
                  <a:extLst>
                    <a:ext uri="{9D8B030D-6E8A-4147-A177-3AD203B41FA5}">
                      <a16:colId xmlns:a16="http://schemas.microsoft.com/office/drawing/2014/main" val="2808757272"/>
                    </a:ext>
                  </a:extLst>
                </a:gridCol>
                <a:gridCol w="1197447">
                  <a:extLst>
                    <a:ext uri="{9D8B030D-6E8A-4147-A177-3AD203B41FA5}">
                      <a16:colId xmlns:a16="http://schemas.microsoft.com/office/drawing/2014/main" val="3342243157"/>
                    </a:ext>
                  </a:extLst>
                </a:gridCol>
                <a:gridCol w="6006290">
                  <a:extLst>
                    <a:ext uri="{9D8B030D-6E8A-4147-A177-3AD203B41FA5}">
                      <a16:colId xmlns:a16="http://schemas.microsoft.com/office/drawing/2014/main" val="29137693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작성자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날짜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내용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503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최은성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’25.11.</a:t>
                      </a:r>
                      <a:r>
                        <a:rPr lang="en-US" altLang="ko-KR" sz="1600" dirty="0"/>
                        <a:t>10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초기 문서 작성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전력 퍼즐 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–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퍼즐 구조 작성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0267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최은성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’25.11.11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전력 퍼즐 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–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풀이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연출 작성</a:t>
                      </a:r>
                      <a:r>
                        <a:rPr lang="en-US" altLang="ko-KR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기억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–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구조 작성 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9556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최은성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’25.11.12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기억 퍼즐 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–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구조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풀이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연출 작성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5194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최은성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’25.11.24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용액 퍼즐 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– </a:t>
                      </a:r>
                      <a:r>
                        <a:rPr lang="ko-KR" altLang="en-US" sz="140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구조 작성 중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93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최은성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’25.11.24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용액 퍼즐 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–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구조 수정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풀이 작성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연출 작성 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0124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5896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3D499D-DD06-4AB4-9D40-7D1784F55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05DE81-0DFD-E4B6-B216-EE7C93176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509" y="1253331"/>
            <a:ext cx="10515600" cy="1604169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Hallucination </a:t>
            </a:r>
            <a:r>
              <a:rPr lang="ko-KR" altLang="en-US" sz="1800" dirty="0"/>
              <a:t>게임의 재미요소를 더하기 위한 퍼즐 콘텐츠를 기획한 문서이다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퍼즐의 난이도는 상</a:t>
            </a:r>
            <a:r>
              <a:rPr lang="en-US" altLang="ko-KR" sz="1800" dirty="0"/>
              <a:t>/</a:t>
            </a:r>
            <a:r>
              <a:rPr lang="ko-KR" altLang="en-US" sz="1800" dirty="0"/>
              <a:t>중</a:t>
            </a:r>
            <a:r>
              <a:rPr lang="en-US" altLang="ko-KR" sz="1800" dirty="0"/>
              <a:t>/</a:t>
            </a:r>
            <a:r>
              <a:rPr lang="ko-KR" altLang="en-US" sz="1800" dirty="0"/>
              <a:t>하 세 단계로 나뉘며</a:t>
            </a:r>
            <a:r>
              <a:rPr lang="en-US" altLang="ko-KR" sz="1800" dirty="0"/>
              <a:t>, </a:t>
            </a:r>
            <a:r>
              <a:rPr lang="ko-KR" altLang="en-US" sz="1800" dirty="0"/>
              <a:t>후반 구역으로 갈수록 난이도가 높아진다</a:t>
            </a:r>
            <a:r>
              <a:rPr lang="en-US" altLang="ko-KR" sz="1800" dirty="0"/>
              <a:t>.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7C9BDA5-3C11-C7BB-BC9F-5364A0CC35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654319"/>
              </p:ext>
            </p:extLst>
          </p:nvPr>
        </p:nvGraphicFramePr>
        <p:xfrm>
          <a:off x="762492" y="2552700"/>
          <a:ext cx="1666383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2458">
                  <a:extLst>
                    <a:ext uri="{9D8B030D-6E8A-4147-A177-3AD203B41FA5}">
                      <a16:colId xmlns:a16="http://schemas.microsoft.com/office/drawing/2014/main" val="3594325609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1236945548"/>
                    </a:ext>
                  </a:extLst>
                </a:gridCol>
              </a:tblGrid>
              <a:tr h="1986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구역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개수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480655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동면실</a:t>
                      </a:r>
                      <a:endParaRPr lang="ko-KR" altLang="en-US" sz="14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91318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전력실</a:t>
                      </a:r>
                      <a:endParaRPr lang="ko-KR" altLang="en-US" sz="14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65390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수술실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3994556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회의실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08283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로비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382972"/>
                  </a:ext>
                </a:extLst>
              </a:tr>
              <a:tr h="2420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실험실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89000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합계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9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061108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74502C3-1069-1403-13B6-3AA54C9491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085452"/>
              </p:ext>
            </p:extLst>
          </p:nvPr>
        </p:nvGraphicFramePr>
        <p:xfrm>
          <a:off x="3086593" y="2552700"/>
          <a:ext cx="5057282" cy="1127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3513">
                  <a:extLst>
                    <a:ext uri="{9D8B030D-6E8A-4147-A177-3AD203B41FA5}">
                      <a16:colId xmlns:a16="http://schemas.microsoft.com/office/drawing/2014/main" val="3594325609"/>
                    </a:ext>
                  </a:extLst>
                </a:gridCol>
                <a:gridCol w="4093769">
                  <a:extLst>
                    <a:ext uri="{9D8B030D-6E8A-4147-A177-3AD203B41FA5}">
                      <a16:colId xmlns:a16="http://schemas.microsoft.com/office/drawing/2014/main" val="1236945548"/>
                    </a:ext>
                  </a:extLst>
                </a:gridCol>
              </a:tblGrid>
              <a:tr h="2502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유형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설명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6480655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조작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추가적인 단서 없이 장치만을 조작해 푸는 퍼즐이다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91318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관찰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레벨이나 오브젝트에 표시되어 있는 단서를 바탕으로 장치를 조작해 푸는 퍼즐이다</a:t>
                      </a:r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653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3551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A34922-804A-B04B-EDC8-5119E999E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전력 퍼즐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CDAD5DD-07B2-190F-2277-9DCAAD2711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748885"/>
              </p:ext>
            </p:extLst>
          </p:nvPr>
        </p:nvGraphicFramePr>
        <p:xfrm>
          <a:off x="457692" y="1219691"/>
          <a:ext cx="5638307" cy="2042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8661">
                  <a:extLst>
                    <a:ext uri="{9D8B030D-6E8A-4147-A177-3AD203B41FA5}">
                      <a16:colId xmlns:a16="http://schemas.microsoft.com/office/drawing/2014/main" val="3594325609"/>
                    </a:ext>
                  </a:extLst>
                </a:gridCol>
                <a:gridCol w="4089646">
                  <a:extLst>
                    <a:ext uri="{9D8B030D-6E8A-4147-A177-3AD203B41FA5}">
                      <a16:colId xmlns:a16="http://schemas.microsoft.com/office/drawing/2014/main" val="12369455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이름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전력 퍼즐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6480655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위치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전력실</a:t>
                      </a:r>
                      <a:endParaRPr lang="ko-KR" altLang="en-US" sz="14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491318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유형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조작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365390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목표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개의 스위치를 조작해 빨간색으로 표시된 구간에 계기판 바늘을 위치시키기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3994556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예상 플레이 시간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2~3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1082837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난이도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938297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7C0520F-EDEA-37A8-1D31-A9BA6D7C682F}"/>
              </a:ext>
            </a:extLst>
          </p:cNvPr>
          <p:cNvSpPr txBox="1"/>
          <p:nvPr/>
        </p:nvSpPr>
        <p:spPr>
          <a:xfrm>
            <a:off x="457693" y="3429000"/>
            <a:ext cx="6094520" cy="1728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 rtl="0" eaLnBrk="1" latinLnBrk="1" hangingPunct="1">
              <a:lnSpc>
                <a:spcPct val="90000"/>
              </a:lnSpc>
              <a:spcBef>
                <a:spcPts val="1000"/>
              </a:spcBef>
              <a:buClrTx/>
              <a:buSzPts val="1800"/>
              <a:buFont typeface="Arial" panose="020B0604020202020204" pitchFamily="34" charset="0"/>
              <a:buChar char="•"/>
            </a:pPr>
            <a:r>
              <a:rPr lang="ko-KR" altLang="en-US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특이사항</a:t>
            </a:r>
            <a:endParaRPr lang="en-US" altLang="ko-KR" kern="1200" dirty="0">
              <a:solidFill>
                <a:srgbClr val="00000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  <a:p>
            <a:pPr marL="685800" lvl="1" indent="-228600">
              <a:spcBef>
                <a:spcPts val="1000"/>
              </a:spcBef>
              <a:buSzPts val="1800"/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유저가 처음으로 발견하는 퍼즐</a:t>
            </a:r>
            <a:endParaRPr lang="en-US" altLang="ko-KR" sz="1400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685800" lvl="1" indent="-228600">
              <a:spcBef>
                <a:spcPts val="1000"/>
              </a:spcBef>
              <a:buSzPts val="1800"/>
              <a:buFont typeface="Arial" panose="020B0604020202020204" pitchFamily="34" charset="0"/>
              <a:buChar char="•"/>
            </a:pPr>
            <a:r>
              <a:rPr lang="ko-KR" altLang="en-US" sz="1400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해당 퍼즐을 해결할 시 퓨즈 박스 열쇠 획득</a:t>
            </a:r>
            <a:endParaRPr lang="en-US" altLang="ko-KR" sz="1400" kern="1200" dirty="0">
              <a:solidFill>
                <a:srgbClr val="00000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  <a:p>
            <a:pPr marL="228600" indent="-228600" algn="l" rtl="0" eaLnBrk="1" latinLnBrk="1" hangingPunct="1">
              <a:lnSpc>
                <a:spcPct val="90000"/>
              </a:lnSpc>
              <a:spcBef>
                <a:spcPts val="1000"/>
              </a:spcBef>
              <a:buClrTx/>
              <a:buSzPts val="1800"/>
              <a:buFont typeface="Arial" panose="020B0604020202020204" pitchFamily="34" charset="0"/>
              <a:buChar char="•"/>
            </a:pPr>
            <a:r>
              <a:rPr lang="ko-KR" altLang="ko-KR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레퍼런</a:t>
            </a:r>
            <a:r>
              <a:rPr lang="ko-KR" altLang="en-US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스</a:t>
            </a:r>
            <a:endParaRPr lang="en-US" altLang="ko-KR" kern="1200" dirty="0">
              <a:solidFill>
                <a:srgbClr val="00000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SzPts val="1800"/>
              <a:buFont typeface="Arial" panose="020B0604020202020204" pitchFamily="34" charset="0"/>
              <a:buChar char="•"/>
            </a:pPr>
            <a:r>
              <a:rPr lang="en-US" altLang="ko-KR" sz="1400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BIOHAZARD:RE 2</a:t>
            </a:r>
            <a:r>
              <a:rPr lang="ko-KR" altLang="ko-KR" sz="1400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의 배전반 퍼즐</a:t>
            </a:r>
            <a:endParaRPr lang="ko-KR" altLang="ko-KR" sz="1400" dirty="0">
              <a:effectLst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659829F-71A9-40EF-C102-44DEF0331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843" y="583190"/>
            <a:ext cx="4832971" cy="5691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987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E07B94-6D77-4446-0C11-1441EBB09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 구조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CCB22B0-88A3-1534-D086-211FCF113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514" y="583190"/>
            <a:ext cx="4832971" cy="569162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9E705E71-FF68-DBE9-F636-2EEBC2434BFD}"/>
              </a:ext>
            </a:extLst>
          </p:cNvPr>
          <p:cNvSpPr/>
          <p:nvPr/>
        </p:nvSpPr>
        <p:spPr>
          <a:xfrm>
            <a:off x="4163627" y="1464816"/>
            <a:ext cx="3382392" cy="146481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EFAA688-2036-4593-2C68-563F20B1FA90}"/>
              </a:ext>
            </a:extLst>
          </p:cNvPr>
          <p:cNvCxnSpPr>
            <a:cxnSpLocks/>
          </p:cNvCxnSpPr>
          <p:nvPr/>
        </p:nvCxnSpPr>
        <p:spPr>
          <a:xfrm flipH="1" flipV="1">
            <a:off x="3355759" y="2239211"/>
            <a:ext cx="807868" cy="9467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1C5923CE-1E78-31F0-5994-E8885B1C3188}"/>
              </a:ext>
            </a:extLst>
          </p:cNvPr>
          <p:cNvSpPr/>
          <p:nvPr/>
        </p:nvSpPr>
        <p:spPr>
          <a:xfrm>
            <a:off x="230819" y="1502954"/>
            <a:ext cx="3124940" cy="14266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부터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까지 총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11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개의 눈금이 존재한다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오른쪽으로 갈 수록 눈금의 수가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씩 증가한다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계기판 바늘 초기 위치는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개의 스위치를 적절히 작동시켜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8.5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눈금에 계기판 바늘을 위치시켜야 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AA14378-8097-1BF1-E74A-A9CAB4C051C7}"/>
              </a:ext>
            </a:extLst>
          </p:cNvPr>
          <p:cNvSpPr/>
          <p:nvPr/>
        </p:nvSpPr>
        <p:spPr>
          <a:xfrm>
            <a:off x="230819" y="1183357"/>
            <a:ext cx="3124940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계기판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291A1A3-2D00-AE44-6CF4-47BE6108BA0E}"/>
              </a:ext>
            </a:extLst>
          </p:cNvPr>
          <p:cNvSpPr/>
          <p:nvPr/>
        </p:nvSpPr>
        <p:spPr>
          <a:xfrm>
            <a:off x="4456589" y="3429000"/>
            <a:ext cx="2752079" cy="9565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E31B6B7-B5D1-264E-F4F0-1CAB73363AA2}"/>
              </a:ext>
            </a:extLst>
          </p:cNvPr>
          <p:cNvCxnSpPr>
            <a:cxnSpLocks/>
          </p:cNvCxnSpPr>
          <p:nvPr/>
        </p:nvCxnSpPr>
        <p:spPr>
          <a:xfrm flipH="1">
            <a:off x="3355759" y="4138490"/>
            <a:ext cx="1100830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66BD9F0-0025-22D5-F1F2-38607ADEEDE6}"/>
              </a:ext>
            </a:extLst>
          </p:cNvPr>
          <p:cNvSpPr/>
          <p:nvPr/>
        </p:nvSpPr>
        <p:spPr>
          <a:xfrm>
            <a:off x="230819" y="3399320"/>
            <a:ext cx="3124940" cy="195572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총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개의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ON/OFF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스위치가 존재한다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각 스위치는 클릭 시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ON/OFF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상태가 변환되며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초기 상태는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OFF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조작 버튼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을 클릭 시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ON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상태일 때 정해진 값만큼 바늘이 이동하고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OFF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상태일시 되돌아온다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번 스위치는 바늘을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+1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만큼 이동시킨다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번 스위치는 바늘을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+4.5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만큼 이동시킨다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번 스위치는 바늘을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-2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만큼 이동시킨다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번 스위치는 바늘을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+3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만큼 이동시킨다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891F4EC-C609-B2D0-1C6A-9D5CD831868C}"/>
              </a:ext>
            </a:extLst>
          </p:cNvPr>
          <p:cNvSpPr/>
          <p:nvPr/>
        </p:nvSpPr>
        <p:spPr>
          <a:xfrm>
            <a:off x="230819" y="3079723"/>
            <a:ext cx="3124940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스위치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4BBDFEE6-6699-EB98-0D6B-66410BF69320}"/>
              </a:ext>
            </a:extLst>
          </p:cNvPr>
          <p:cNvSpPr/>
          <p:nvPr/>
        </p:nvSpPr>
        <p:spPr>
          <a:xfrm>
            <a:off x="4740676" y="3542190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194B3460-4747-DE78-D48C-8A5146752EC7}"/>
              </a:ext>
            </a:extLst>
          </p:cNvPr>
          <p:cNvSpPr/>
          <p:nvPr/>
        </p:nvSpPr>
        <p:spPr>
          <a:xfrm>
            <a:off x="5375149" y="3542190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BA81AD8E-F837-828B-49FD-917F619E7BB4}"/>
              </a:ext>
            </a:extLst>
          </p:cNvPr>
          <p:cNvSpPr/>
          <p:nvPr/>
        </p:nvSpPr>
        <p:spPr>
          <a:xfrm>
            <a:off x="6018179" y="3542190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5A374B8A-0B38-6F1E-D61C-B5BB7727564A}"/>
              </a:ext>
            </a:extLst>
          </p:cNvPr>
          <p:cNvSpPr/>
          <p:nvPr/>
        </p:nvSpPr>
        <p:spPr>
          <a:xfrm>
            <a:off x="6644496" y="3542190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D157F4F0-790F-C2DD-CBB0-9451D86E7159}"/>
              </a:ext>
            </a:extLst>
          </p:cNvPr>
          <p:cNvSpPr/>
          <p:nvPr/>
        </p:nvSpPr>
        <p:spPr>
          <a:xfrm>
            <a:off x="5348515" y="4370033"/>
            <a:ext cx="310718" cy="31071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7C0B3367-2A81-73A4-0D34-CA3EA1920706}"/>
              </a:ext>
            </a:extLst>
          </p:cNvPr>
          <p:cNvCxnSpPr>
            <a:cxnSpLocks/>
            <a:endCxn id="24" idx="6"/>
          </p:cNvCxnSpPr>
          <p:nvPr/>
        </p:nvCxnSpPr>
        <p:spPr>
          <a:xfrm flipH="1">
            <a:off x="5659233" y="4525392"/>
            <a:ext cx="3138538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CDFF6A3-50F9-5612-BB60-DEE84B051D0B}"/>
              </a:ext>
            </a:extLst>
          </p:cNvPr>
          <p:cNvSpPr/>
          <p:nvPr/>
        </p:nvSpPr>
        <p:spPr>
          <a:xfrm>
            <a:off x="8796572" y="4084064"/>
            <a:ext cx="3124940" cy="8316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조작 버튼을 클릭 시 설정된 스위치의 값 만큼 바늘이 이동한다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조작 버튼 클릭은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초의 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쿨타임이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존재한다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2C93765-351C-0F53-12E4-FBF72B3B3BAF}"/>
              </a:ext>
            </a:extLst>
          </p:cNvPr>
          <p:cNvSpPr/>
          <p:nvPr/>
        </p:nvSpPr>
        <p:spPr>
          <a:xfrm>
            <a:off x="8796572" y="3764466"/>
            <a:ext cx="3124940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조작 버튼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C751459-90F1-AB19-3A25-1A86BD79179D}"/>
              </a:ext>
            </a:extLst>
          </p:cNvPr>
          <p:cNvSpPr/>
          <p:nvPr/>
        </p:nvSpPr>
        <p:spPr>
          <a:xfrm>
            <a:off x="5051394" y="4793941"/>
            <a:ext cx="1722268" cy="11261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62F88737-2FFA-63F2-50BE-64B5D1EDD63D}"/>
              </a:ext>
            </a:extLst>
          </p:cNvPr>
          <p:cNvCxnSpPr>
            <a:cxnSpLocks/>
            <a:endCxn id="34" idx="3"/>
          </p:cNvCxnSpPr>
          <p:nvPr/>
        </p:nvCxnSpPr>
        <p:spPr>
          <a:xfrm flipH="1">
            <a:off x="6773662" y="5357003"/>
            <a:ext cx="2022910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4F0B043-4EFD-F0EA-E120-06B3D9582167}"/>
              </a:ext>
            </a:extLst>
          </p:cNvPr>
          <p:cNvSpPr/>
          <p:nvPr/>
        </p:nvSpPr>
        <p:spPr>
          <a:xfrm>
            <a:off x="8796572" y="5478349"/>
            <a:ext cx="3124940" cy="45358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바늘을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8.5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눈금에 위치시킬 경우 배출구에 퓨즈 박스 열쇠가 떨어진다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54337D2-EF08-944D-30EF-950001567508}"/>
              </a:ext>
            </a:extLst>
          </p:cNvPr>
          <p:cNvSpPr/>
          <p:nvPr/>
        </p:nvSpPr>
        <p:spPr>
          <a:xfrm>
            <a:off x="8796572" y="5158752"/>
            <a:ext cx="3124940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열쇠 배출구</a:t>
            </a:r>
          </a:p>
        </p:txBody>
      </p:sp>
    </p:spTree>
    <p:extLst>
      <p:ext uri="{BB962C8B-B14F-4D97-AF65-F5344CB8AC3E}">
        <p14:creationId xmlns:p14="http://schemas.microsoft.com/office/powerpoint/2010/main" val="185711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AC889-E003-A07D-F2E2-ED4E35EFE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2DF64B-8823-3BBD-5162-A8AB1AF2F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 풀이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FAB3F0E-CBB3-1513-FB1D-3BF078B37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514" y="583190"/>
            <a:ext cx="4832971" cy="569162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A1601D5E-6508-150D-EDF7-CEBE738D0E4E}"/>
              </a:ext>
            </a:extLst>
          </p:cNvPr>
          <p:cNvSpPr/>
          <p:nvPr/>
        </p:nvSpPr>
        <p:spPr>
          <a:xfrm>
            <a:off x="4456589" y="3429000"/>
            <a:ext cx="2752079" cy="9565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06102E7-9840-08AC-9327-367F0CE2A00F}"/>
              </a:ext>
            </a:extLst>
          </p:cNvPr>
          <p:cNvCxnSpPr>
            <a:cxnSpLocks/>
          </p:cNvCxnSpPr>
          <p:nvPr/>
        </p:nvCxnSpPr>
        <p:spPr>
          <a:xfrm flipH="1">
            <a:off x="3355759" y="4138490"/>
            <a:ext cx="1100830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6B1A2876-27A1-98A6-C1F6-DD72A9B2944B}"/>
              </a:ext>
            </a:extLst>
          </p:cNvPr>
          <p:cNvSpPr/>
          <p:nvPr/>
        </p:nvSpPr>
        <p:spPr>
          <a:xfrm>
            <a:off x="5375149" y="3542190"/>
            <a:ext cx="310718" cy="310718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 dirty="0"/>
              <a:t>ON</a:t>
            </a:r>
            <a:endParaRPr lang="ko-KR" altLang="en-US" sz="1100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82BDFA73-A20F-3E83-34BD-2B841E649875}"/>
              </a:ext>
            </a:extLst>
          </p:cNvPr>
          <p:cNvSpPr/>
          <p:nvPr/>
        </p:nvSpPr>
        <p:spPr>
          <a:xfrm>
            <a:off x="5348515" y="4370033"/>
            <a:ext cx="310718" cy="31071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EE7FA9B-8465-026D-AD7C-38BD19A0EF8D}"/>
              </a:ext>
            </a:extLst>
          </p:cNvPr>
          <p:cNvSpPr/>
          <p:nvPr/>
        </p:nvSpPr>
        <p:spPr>
          <a:xfrm>
            <a:off x="332509" y="5585065"/>
            <a:ext cx="3124940" cy="6897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번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2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번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4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번 스위치를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ON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상태로 변경한 후 조작 버튼을 클릭 시 퍼즐이 해결되고 열쇠가 떨어진다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B228920E-345A-CCED-3063-9801DDE3A1B8}"/>
              </a:ext>
            </a:extLst>
          </p:cNvPr>
          <p:cNvSpPr/>
          <p:nvPr/>
        </p:nvSpPr>
        <p:spPr>
          <a:xfrm>
            <a:off x="6009622" y="3542190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dirty="0"/>
              <a:t>OFF</a:t>
            </a:r>
            <a:endParaRPr lang="ko-KR" altLang="en-US" sz="900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8565818-B25A-D9B6-278F-940E64C548FC}"/>
              </a:ext>
            </a:extLst>
          </p:cNvPr>
          <p:cNvSpPr/>
          <p:nvPr/>
        </p:nvSpPr>
        <p:spPr>
          <a:xfrm>
            <a:off x="4734372" y="3542190"/>
            <a:ext cx="310718" cy="310718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 dirty="0"/>
              <a:t>ON</a:t>
            </a:r>
            <a:endParaRPr lang="ko-KR" altLang="en-US" sz="1100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B02BB2E5-3818-BE7D-BE5E-402AD09346F7}"/>
              </a:ext>
            </a:extLst>
          </p:cNvPr>
          <p:cNvSpPr/>
          <p:nvPr/>
        </p:nvSpPr>
        <p:spPr>
          <a:xfrm>
            <a:off x="6644095" y="3542190"/>
            <a:ext cx="310718" cy="310718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 dirty="0"/>
              <a:t>ON</a:t>
            </a:r>
            <a:endParaRPr lang="ko-KR" altLang="en-US" sz="1100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33D5FF40-9ED6-12EE-C3A2-E71CE6160EFA}"/>
              </a:ext>
            </a:extLst>
          </p:cNvPr>
          <p:cNvSpPr/>
          <p:nvPr/>
        </p:nvSpPr>
        <p:spPr>
          <a:xfrm>
            <a:off x="3045041" y="3983131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BB546761-5347-2010-31CF-0DB2EBEF69F9}"/>
              </a:ext>
            </a:extLst>
          </p:cNvPr>
          <p:cNvSpPr/>
          <p:nvPr/>
        </p:nvSpPr>
        <p:spPr>
          <a:xfrm>
            <a:off x="5193156" y="4591975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5732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C1C2D-8C9C-7304-F3E4-50DE5F91F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9F44651-0C07-888F-6476-F13758DDF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514" y="583190"/>
            <a:ext cx="4832971" cy="5691620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47E042ED-7DE8-FAE2-591B-3A63942A439A}"/>
              </a:ext>
            </a:extLst>
          </p:cNvPr>
          <p:cNvSpPr/>
          <p:nvPr/>
        </p:nvSpPr>
        <p:spPr>
          <a:xfrm>
            <a:off x="3802536" y="937935"/>
            <a:ext cx="4132902" cy="513212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EC91646-869C-C8ED-E3D7-F04AEB63D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 연출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92421B2-1E04-7FFA-A8C7-4A7391CEB116}"/>
              </a:ext>
            </a:extLst>
          </p:cNvPr>
          <p:cNvSpPr/>
          <p:nvPr/>
        </p:nvSpPr>
        <p:spPr>
          <a:xfrm>
            <a:off x="5659233" y="1751791"/>
            <a:ext cx="391180" cy="6979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7A5B7D2-62E5-9679-9FA8-F50BD359F9DF}"/>
              </a:ext>
            </a:extLst>
          </p:cNvPr>
          <p:cNvCxnSpPr>
            <a:cxnSpLocks/>
          </p:cNvCxnSpPr>
          <p:nvPr/>
        </p:nvCxnSpPr>
        <p:spPr>
          <a:xfrm flipH="1" flipV="1">
            <a:off x="3355759" y="2239211"/>
            <a:ext cx="2234550" cy="4734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B27E3F-DBEE-6BC2-3C12-427F5DF90791}"/>
              </a:ext>
            </a:extLst>
          </p:cNvPr>
          <p:cNvSpPr/>
          <p:nvPr/>
        </p:nvSpPr>
        <p:spPr>
          <a:xfrm>
            <a:off x="230819" y="1863168"/>
            <a:ext cx="3124940" cy="9467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스위치를 하나라도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ON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상태로 만든 후 조작 버튼을 누르면 좌우로 미세하게 떨린다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정해진 위치로 이동할 때 </a:t>
            </a:r>
            <a:r>
              <a:rPr lang="en-US" altLang="ko-KR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InQuart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형태로 빠르게 이동하며 약간의 반동이 존재한다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201E627-52F6-FABA-05BF-ABDFDCA6DF09}"/>
              </a:ext>
            </a:extLst>
          </p:cNvPr>
          <p:cNvSpPr/>
          <p:nvPr/>
        </p:nvSpPr>
        <p:spPr>
          <a:xfrm>
            <a:off x="230819" y="1543571"/>
            <a:ext cx="3124940" cy="3195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계기판 바늘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460E308-3073-62A7-917A-4AD2E5CC8A07}"/>
              </a:ext>
            </a:extLst>
          </p:cNvPr>
          <p:cNvSpPr/>
          <p:nvPr/>
        </p:nvSpPr>
        <p:spPr>
          <a:xfrm>
            <a:off x="4456589" y="3429000"/>
            <a:ext cx="2752079" cy="9565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32C6CD6-77FA-6B71-3A2A-6CECDB51D5CA}"/>
              </a:ext>
            </a:extLst>
          </p:cNvPr>
          <p:cNvCxnSpPr>
            <a:cxnSpLocks/>
          </p:cNvCxnSpPr>
          <p:nvPr/>
        </p:nvCxnSpPr>
        <p:spPr>
          <a:xfrm flipH="1">
            <a:off x="3355759" y="4138490"/>
            <a:ext cx="1100830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11DAF26-C473-FE59-802C-82DABD9F6AD8}"/>
              </a:ext>
            </a:extLst>
          </p:cNvPr>
          <p:cNvSpPr/>
          <p:nvPr/>
        </p:nvSpPr>
        <p:spPr>
          <a:xfrm>
            <a:off x="230819" y="3669102"/>
            <a:ext cx="3124940" cy="14161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스위치의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ON/OFF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상태를 변경할 때마다 </a:t>
            </a:r>
            <a:r>
              <a:rPr lang="en-US" altLang="ko-KR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OutExpo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형태로 빠르게 스위치가 올라가고 내려간다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‘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틱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하는 스위치 조작 소리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925200" lvl="2" indent="-144000">
              <a:buFont typeface="Arial" panose="020B0604020202020204" pitchFamily="34" charset="0"/>
              <a:buChar char="•"/>
            </a:pPr>
            <a:r>
              <a:rPr lang="en-US" altLang="ko-KR" sz="11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OFF </a:t>
            </a:r>
            <a:r>
              <a:rPr lang="ko-KR" altLang="en-US" sz="11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상태로 만들 때는 소리의 피치가 낮아진다</a:t>
            </a:r>
            <a:r>
              <a:rPr lang="en-US" altLang="ko-KR" sz="1100" i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D4A3288-A46F-9220-995C-4C2108361EA5}"/>
              </a:ext>
            </a:extLst>
          </p:cNvPr>
          <p:cNvSpPr/>
          <p:nvPr/>
        </p:nvSpPr>
        <p:spPr>
          <a:xfrm>
            <a:off x="230819" y="3349505"/>
            <a:ext cx="3124940" cy="3195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스위치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0049AD1-4571-9347-D42B-18477F7B7FB8}"/>
              </a:ext>
            </a:extLst>
          </p:cNvPr>
          <p:cNvSpPr/>
          <p:nvPr/>
        </p:nvSpPr>
        <p:spPr>
          <a:xfrm>
            <a:off x="4740676" y="3542190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AC52A0E-B94E-96B3-9199-EC951E0DCD24}"/>
              </a:ext>
            </a:extLst>
          </p:cNvPr>
          <p:cNvSpPr/>
          <p:nvPr/>
        </p:nvSpPr>
        <p:spPr>
          <a:xfrm>
            <a:off x="5375149" y="3542190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53C92807-89F1-D553-86CC-612AB308B46F}"/>
              </a:ext>
            </a:extLst>
          </p:cNvPr>
          <p:cNvSpPr/>
          <p:nvPr/>
        </p:nvSpPr>
        <p:spPr>
          <a:xfrm>
            <a:off x="6018179" y="3542190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4E3EE0ED-A580-BD6F-8E16-DA12DDB465C9}"/>
              </a:ext>
            </a:extLst>
          </p:cNvPr>
          <p:cNvSpPr/>
          <p:nvPr/>
        </p:nvSpPr>
        <p:spPr>
          <a:xfrm>
            <a:off x="6644496" y="3542190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EACCCD9D-9FB4-1D46-7360-CA80AACADE71}"/>
              </a:ext>
            </a:extLst>
          </p:cNvPr>
          <p:cNvSpPr/>
          <p:nvPr/>
        </p:nvSpPr>
        <p:spPr>
          <a:xfrm>
            <a:off x="5348515" y="4370033"/>
            <a:ext cx="310718" cy="31071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B1912499-5972-88FD-A6A0-07AB7D22F1D7}"/>
              </a:ext>
            </a:extLst>
          </p:cNvPr>
          <p:cNvCxnSpPr>
            <a:cxnSpLocks/>
            <a:endCxn id="24" idx="6"/>
          </p:cNvCxnSpPr>
          <p:nvPr/>
        </p:nvCxnSpPr>
        <p:spPr>
          <a:xfrm flipH="1">
            <a:off x="5659233" y="4525392"/>
            <a:ext cx="3138538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6B58BB2-1E69-64AC-D6CA-EB064F709A48}"/>
              </a:ext>
            </a:extLst>
          </p:cNvPr>
          <p:cNvSpPr/>
          <p:nvPr/>
        </p:nvSpPr>
        <p:spPr>
          <a:xfrm>
            <a:off x="8796572" y="4097698"/>
            <a:ext cx="3124940" cy="9397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조작 버튼을 클릭 시 버튼이 </a:t>
            </a:r>
            <a:r>
              <a:rPr lang="en-US" altLang="ko-KR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InSine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형태로 눌렸다가 빠르게 돌아온다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‘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파지직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하는 전기가 통하는 듯한 소리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B571E7E-397C-D43E-BA3A-A6BF9458317C}"/>
              </a:ext>
            </a:extLst>
          </p:cNvPr>
          <p:cNvSpPr/>
          <p:nvPr/>
        </p:nvSpPr>
        <p:spPr>
          <a:xfrm>
            <a:off x="8796572" y="3778101"/>
            <a:ext cx="3124940" cy="3195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조작 버튼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ECD09DB-6C4A-0EBD-4DD6-78248DAFF97D}"/>
              </a:ext>
            </a:extLst>
          </p:cNvPr>
          <p:cNvSpPr/>
          <p:nvPr/>
        </p:nvSpPr>
        <p:spPr>
          <a:xfrm>
            <a:off x="5051394" y="4793941"/>
            <a:ext cx="1722268" cy="11261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648DB03D-0654-7983-0857-931AA210948C}"/>
              </a:ext>
            </a:extLst>
          </p:cNvPr>
          <p:cNvCxnSpPr>
            <a:cxnSpLocks/>
            <a:endCxn id="34" idx="3"/>
          </p:cNvCxnSpPr>
          <p:nvPr/>
        </p:nvCxnSpPr>
        <p:spPr>
          <a:xfrm flipH="1">
            <a:off x="6773662" y="5357003"/>
            <a:ext cx="2022910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4B4158A-2E26-02F6-D20A-8FEE284E7B70}"/>
              </a:ext>
            </a:extLst>
          </p:cNvPr>
          <p:cNvSpPr/>
          <p:nvPr/>
        </p:nvSpPr>
        <p:spPr>
          <a:xfrm>
            <a:off x="8796572" y="5478349"/>
            <a:ext cx="3124940" cy="9516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퍼즐을 해결할 경우 배출구에 퓨즈 박스 열쇠가 떨어진다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열쇠와 상호작용하여 획득할 수 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 ‘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딸그랑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하는 쇠가 떨어지는 소리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8C337D8-D89C-4400-650E-02C751619220}"/>
              </a:ext>
            </a:extLst>
          </p:cNvPr>
          <p:cNvSpPr/>
          <p:nvPr/>
        </p:nvSpPr>
        <p:spPr>
          <a:xfrm>
            <a:off x="8796572" y="5158752"/>
            <a:ext cx="3124940" cy="3195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열쇠 배출구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B98EC087-1ECC-6812-4D1F-AE31A362AC89}"/>
              </a:ext>
            </a:extLst>
          </p:cNvPr>
          <p:cNvCxnSpPr>
            <a:cxnSpLocks/>
          </p:cNvCxnSpPr>
          <p:nvPr/>
        </p:nvCxnSpPr>
        <p:spPr>
          <a:xfrm flipH="1">
            <a:off x="7935438" y="1930015"/>
            <a:ext cx="862333" cy="0"/>
          </a:xfrm>
          <a:prstGeom prst="line">
            <a:avLst/>
          </a:prstGeom>
          <a:ln w="38100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034E10-B981-6378-D91A-8012C5AFE0EA}"/>
              </a:ext>
            </a:extLst>
          </p:cNvPr>
          <p:cNvSpPr/>
          <p:nvPr/>
        </p:nvSpPr>
        <p:spPr>
          <a:xfrm>
            <a:off x="8796572" y="1502321"/>
            <a:ext cx="3124940" cy="123115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전력 패널을 상호작용할 시 카메라가 전력 패널에 고정된다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다시 상호작용하여 원래 상태로 돌아갈 수 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퍼즐을 해결할 경우 아래의 열쇠 배출구로 카메라가 이동한 후 열쇠가 떨어진다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이후 전력 패널과 상호작용 할 수 없게 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2FD4420-92EC-F9E9-D04A-5CAEF806D02D}"/>
              </a:ext>
            </a:extLst>
          </p:cNvPr>
          <p:cNvSpPr/>
          <p:nvPr/>
        </p:nvSpPr>
        <p:spPr>
          <a:xfrm>
            <a:off x="8796572" y="1182724"/>
            <a:ext cx="3124940" cy="3195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상호작용</a:t>
            </a:r>
          </a:p>
        </p:txBody>
      </p:sp>
    </p:spTree>
    <p:extLst>
      <p:ext uri="{BB962C8B-B14F-4D97-AF65-F5344CB8AC3E}">
        <p14:creationId xmlns:p14="http://schemas.microsoft.com/office/powerpoint/2010/main" val="3415501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4F66B-48B8-FE99-4C35-768BC67F6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18FC19-6D1E-D765-5EC1-5E5D7CEE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기억 퍼즐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A069337-FA69-4B11-FFA9-EDC042CD4E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597919"/>
              </p:ext>
            </p:extLst>
          </p:nvPr>
        </p:nvGraphicFramePr>
        <p:xfrm>
          <a:off x="457692" y="1219691"/>
          <a:ext cx="5638307" cy="2042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8661">
                  <a:extLst>
                    <a:ext uri="{9D8B030D-6E8A-4147-A177-3AD203B41FA5}">
                      <a16:colId xmlns:a16="http://schemas.microsoft.com/office/drawing/2014/main" val="3594325609"/>
                    </a:ext>
                  </a:extLst>
                </a:gridCol>
                <a:gridCol w="4089646">
                  <a:extLst>
                    <a:ext uri="{9D8B030D-6E8A-4147-A177-3AD203B41FA5}">
                      <a16:colId xmlns:a16="http://schemas.microsoft.com/office/drawing/2014/main" val="12369455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이름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기억 퍼즐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6480655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위치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491318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유형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조작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365390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목표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랜덤한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순서로 출력되는 아이콘들의 순서를 기억한 후 맞추기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3994556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예상 플레이 시간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2~4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1082837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난이도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938297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20FF68C-A16C-2199-C35B-45072735A5B6}"/>
              </a:ext>
            </a:extLst>
          </p:cNvPr>
          <p:cNvSpPr txBox="1"/>
          <p:nvPr/>
        </p:nvSpPr>
        <p:spPr>
          <a:xfrm>
            <a:off x="457693" y="3429000"/>
            <a:ext cx="6094520" cy="685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l" rtl="0" eaLnBrk="1" latinLnBrk="1" hangingPunct="1">
              <a:lnSpc>
                <a:spcPct val="90000"/>
              </a:lnSpc>
              <a:spcBef>
                <a:spcPts val="1000"/>
              </a:spcBef>
              <a:buClrTx/>
              <a:buSzPts val="1800"/>
              <a:buFont typeface="Arial" panose="020B0604020202020204" pitchFamily="34" charset="0"/>
              <a:buChar char="•"/>
            </a:pPr>
            <a:r>
              <a:rPr lang="ko-KR" altLang="en-US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특이사항</a:t>
            </a:r>
            <a:endParaRPr lang="en-US" altLang="ko-KR" kern="1200" dirty="0">
              <a:solidFill>
                <a:srgbClr val="00000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  <a:p>
            <a:pPr marL="685800" lvl="1" indent="-228600">
              <a:spcBef>
                <a:spcPts val="1000"/>
              </a:spcBef>
              <a:buSzPts val="1800"/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해당 퍼즐을 해결할 시 퓨즈 보관함 열쇠 </a:t>
            </a:r>
            <a:r>
              <a:rPr lang="en-US" altLang="ko-KR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4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획득</a:t>
            </a:r>
            <a:endParaRPr lang="en-US" altLang="ko-KR" sz="1400" kern="1200" dirty="0">
              <a:solidFill>
                <a:srgbClr val="00000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62F5E3F-E141-2A92-4D28-EF19197F6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786" y="0"/>
            <a:ext cx="51632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848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A746D-A339-8348-EF86-F0CA2B2AF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그림 45">
            <a:extLst>
              <a:ext uri="{FF2B5EF4-FFF2-40B4-BE49-F238E27FC236}">
                <a16:creationId xmlns:a16="http://schemas.microsoft.com/office/drawing/2014/main" id="{AD34FB86-80E2-B10F-5B1F-A24D0E813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371" y="0"/>
            <a:ext cx="5163258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DB06FC1-C294-7E84-DC41-588292B40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 구조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4AD0311-4C19-C99C-083A-DD4DA30720E7}"/>
              </a:ext>
            </a:extLst>
          </p:cNvPr>
          <p:cNvSpPr/>
          <p:nvPr/>
        </p:nvSpPr>
        <p:spPr>
          <a:xfrm>
            <a:off x="148809" y="1979205"/>
            <a:ext cx="3124940" cy="47382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벽에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9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개의 모니터가 걸려 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B39EB80-AECA-4742-9CCB-F544094CC547}"/>
              </a:ext>
            </a:extLst>
          </p:cNvPr>
          <p:cNvSpPr/>
          <p:nvPr/>
        </p:nvSpPr>
        <p:spPr>
          <a:xfrm>
            <a:off x="148809" y="1659607"/>
            <a:ext cx="3124940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모니터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CC7AFF15-441B-7BF4-93D2-4552F1C5758E}"/>
              </a:ext>
            </a:extLst>
          </p:cNvPr>
          <p:cNvCxnSpPr>
            <a:cxnSpLocks/>
          </p:cNvCxnSpPr>
          <p:nvPr/>
        </p:nvCxnSpPr>
        <p:spPr>
          <a:xfrm flipH="1">
            <a:off x="3219450" y="2181225"/>
            <a:ext cx="776165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B934EE0-F6AD-CA65-C715-770A9AF8F468}"/>
              </a:ext>
            </a:extLst>
          </p:cNvPr>
          <p:cNvSpPr/>
          <p:nvPr/>
        </p:nvSpPr>
        <p:spPr>
          <a:xfrm>
            <a:off x="3995615" y="451485"/>
            <a:ext cx="4200770" cy="42214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EE978DB-9E06-4503-F122-8B8F3908B08C}"/>
              </a:ext>
            </a:extLst>
          </p:cNvPr>
          <p:cNvSpPr/>
          <p:nvPr/>
        </p:nvSpPr>
        <p:spPr>
          <a:xfrm>
            <a:off x="6811625" y="4831873"/>
            <a:ext cx="717664" cy="7212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3066F46-DDCE-7D59-0D11-63655D2CDE36}"/>
              </a:ext>
            </a:extLst>
          </p:cNvPr>
          <p:cNvCxnSpPr>
            <a:cxnSpLocks/>
          </p:cNvCxnSpPr>
          <p:nvPr/>
        </p:nvCxnSpPr>
        <p:spPr>
          <a:xfrm flipH="1">
            <a:off x="7529289" y="5201999"/>
            <a:ext cx="1386111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F13661F-4967-15F7-BA81-372299842174}"/>
              </a:ext>
            </a:extLst>
          </p:cNvPr>
          <p:cNvSpPr/>
          <p:nvPr/>
        </p:nvSpPr>
        <p:spPr>
          <a:xfrm>
            <a:off x="8915400" y="3133726"/>
            <a:ext cx="3124940" cy="25006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2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기억</a:t>
            </a:r>
            <a:r>
              <a:rPr lang="en-US" altLang="ko-KR" sz="12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파트</a:t>
            </a:r>
            <a:endParaRPr lang="en-US" altLang="ko-KR" sz="12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468000" lvl="1" indent="-216000">
              <a:buFont typeface="+mj-lt"/>
              <a:buAutoNum type="alphaL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버튼을 클릭할 시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 주기로 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랜덤한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모니터에 정해진 아이콘이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0.5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초간 출력된 후 사라진다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468000" lvl="1" indent="-216000">
              <a:buFont typeface="+mj-lt"/>
              <a:buAutoNum type="alphaL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이후 해당 동작을 실행하지 않은 다른 모든 아이콘에 반복된다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선택</a:t>
            </a:r>
            <a:r>
              <a:rPr lang="en-US" altLang="ko-KR" sz="12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파트</a:t>
            </a:r>
            <a:endParaRPr lang="en-US" altLang="ko-KR" sz="12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480600" lvl="1" indent="-228600">
              <a:buFont typeface="+mj-lt"/>
              <a:buAutoNum type="alphaL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기억 파트 종료 시 모든 모니터의 아이콘이 출력된다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480600" lvl="1" indent="-228600">
              <a:buFont typeface="+mj-lt"/>
              <a:buAutoNum type="alphaL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성공 시 다시 버튼을 클릭해 다음 단계에 도전할 수 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실패할 경우 다시 버튼을 클릭해 해당 단계에서 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재시작할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수 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FEF17D5-F16D-5C30-6A25-28E01977202B}"/>
              </a:ext>
            </a:extLst>
          </p:cNvPr>
          <p:cNvSpPr/>
          <p:nvPr/>
        </p:nvSpPr>
        <p:spPr>
          <a:xfrm>
            <a:off x="8915400" y="2814128"/>
            <a:ext cx="3124940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시작 버튼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A139C38F-610D-E98F-88C6-5442F263CCD6}"/>
              </a:ext>
            </a:extLst>
          </p:cNvPr>
          <p:cNvSpPr/>
          <p:nvPr/>
        </p:nvSpPr>
        <p:spPr>
          <a:xfrm>
            <a:off x="4807166" y="1360514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ACBC172E-E82B-4473-06BA-81948E72BC77}"/>
              </a:ext>
            </a:extLst>
          </p:cNvPr>
          <p:cNvSpPr/>
          <p:nvPr/>
        </p:nvSpPr>
        <p:spPr>
          <a:xfrm>
            <a:off x="5940641" y="1360514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1C618D5A-C735-E44D-C874-BEADED1ED7E6}"/>
              </a:ext>
            </a:extLst>
          </p:cNvPr>
          <p:cNvSpPr/>
          <p:nvPr/>
        </p:nvSpPr>
        <p:spPr>
          <a:xfrm>
            <a:off x="7068513" y="1360514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AD8F579C-9AD4-C108-1087-0EE298D83C1E}"/>
              </a:ext>
            </a:extLst>
          </p:cNvPr>
          <p:cNvSpPr/>
          <p:nvPr/>
        </p:nvSpPr>
        <p:spPr>
          <a:xfrm>
            <a:off x="4807166" y="2453032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C56B993D-8450-F27C-B6D1-B62EFAADF6FE}"/>
              </a:ext>
            </a:extLst>
          </p:cNvPr>
          <p:cNvSpPr/>
          <p:nvPr/>
        </p:nvSpPr>
        <p:spPr>
          <a:xfrm>
            <a:off x="5940641" y="2453032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3ABBE7EC-62D5-2302-5E8C-47D7E71F5E75}"/>
              </a:ext>
            </a:extLst>
          </p:cNvPr>
          <p:cNvSpPr/>
          <p:nvPr/>
        </p:nvSpPr>
        <p:spPr>
          <a:xfrm>
            <a:off x="7068513" y="2453032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615A8401-DBF0-C358-80CE-ECD95B5ECD96}"/>
              </a:ext>
            </a:extLst>
          </p:cNvPr>
          <p:cNvSpPr/>
          <p:nvPr/>
        </p:nvSpPr>
        <p:spPr>
          <a:xfrm>
            <a:off x="4807166" y="3562998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5FD85E3D-8A7D-D1BF-D24E-00EC31436C90}"/>
              </a:ext>
            </a:extLst>
          </p:cNvPr>
          <p:cNvSpPr/>
          <p:nvPr/>
        </p:nvSpPr>
        <p:spPr>
          <a:xfrm>
            <a:off x="5940641" y="3562998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FFCBB413-93D5-DA78-FF3D-895BDF8AFF15}"/>
              </a:ext>
            </a:extLst>
          </p:cNvPr>
          <p:cNvSpPr/>
          <p:nvPr/>
        </p:nvSpPr>
        <p:spPr>
          <a:xfrm>
            <a:off x="7068513" y="3562998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90744F6-1C6A-E07E-DCD5-EC70664B1ED1}"/>
              </a:ext>
            </a:extLst>
          </p:cNvPr>
          <p:cNvSpPr/>
          <p:nvPr/>
        </p:nvSpPr>
        <p:spPr>
          <a:xfrm>
            <a:off x="148809" y="4043873"/>
            <a:ext cx="3124940" cy="11545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기억 퍼즐은 총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단계로 진행된다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Clr>
                <a:schemeClr val="tx1"/>
              </a:buClr>
              <a:buFont typeface="+mj-lt"/>
              <a:buAutoNum type="arabicPeriod"/>
            </a:pPr>
            <a:r>
              <a:rPr lang="en-US" altLang="ko-KR" sz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en-US" altLang="ko-KR" sz="1200" dirty="0">
                <a:solidFill>
                  <a:schemeClr val="accent4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단계째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진행될 때는 </a:t>
            </a:r>
            <a:r>
              <a:rPr lang="ko-KR" altLang="en-US" sz="1200" dirty="0">
                <a:solidFill>
                  <a:schemeClr val="accent5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아이콘 출력 주기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 </a:t>
            </a:r>
            <a:r>
              <a:rPr lang="en-US" altLang="ko-KR" sz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0.8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en-US" altLang="ko-KR" sz="1200" dirty="0">
                <a:solidFill>
                  <a:schemeClr val="accent4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0.6</a:t>
            </a:r>
            <a:r>
              <a:rPr lang="ko-KR" altLang="en-US" sz="1200" dirty="0">
                <a:solidFill>
                  <a:schemeClr val="accent4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solidFill>
                  <a:schemeClr val="accent5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아이콘 출력 시간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 </a:t>
            </a:r>
            <a:r>
              <a:rPr lang="en-US" altLang="ko-KR" sz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0.4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en-US" altLang="ko-KR" sz="1200" dirty="0">
                <a:solidFill>
                  <a:schemeClr val="accent4">
                    <a:lumMod val="7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0.3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초로 줄어든다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 모두 성공할 시 퍼즐이 해결된다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72FCAA1-EC15-CB49-4E2D-343636AC44B5}"/>
              </a:ext>
            </a:extLst>
          </p:cNvPr>
          <p:cNvSpPr/>
          <p:nvPr/>
        </p:nvSpPr>
        <p:spPr>
          <a:xfrm>
            <a:off x="148809" y="3724276"/>
            <a:ext cx="3124940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퍼즐 횟수</a:t>
            </a:r>
          </a:p>
        </p:txBody>
      </p:sp>
    </p:spTree>
    <p:extLst>
      <p:ext uri="{BB962C8B-B14F-4D97-AF65-F5344CB8AC3E}">
        <p14:creationId xmlns:p14="http://schemas.microsoft.com/office/powerpoint/2010/main" val="4219992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75A72-DEF3-ACEF-C101-E95349A10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그림 45">
            <a:extLst>
              <a:ext uri="{FF2B5EF4-FFF2-40B4-BE49-F238E27FC236}">
                <a16:creationId xmlns:a16="http://schemas.microsoft.com/office/drawing/2014/main" id="{4FCD2AA2-10E7-5D1A-27A8-48B3A731E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371" y="0"/>
            <a:ext cx="5163258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7A44E1A-3358-0A2F-51AC-2AD7F1032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 풀이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12CFD02-D9C3-C675-0FD4-485B2F979E61}"/>
              </a:ext>
            </a:extLst>
          </p:cNvPr>
          <p:cNvSpPr/>
          <p:nvPr/>
        </p:nvSpPr>
        <p:spPr>
          <a:xfrm>
            <a:off x="6811625" y="5621450"/>
            <a:ext cx="717664" cy="7212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D1E459DA-6538-AD7D-6913-1E717E198594}"/>
              </a:ext>
            </a:extLst>
          </p:cNvPr>
          <p:cNvCxnSpPr>
            <a:cxnSpLocks/>
          </p:cNvCxnSpPr>
          <p:nvPr/>
        </p:nvCxnSpPr>
        <p:spPr>
          <a:xfrm flipH="1">
            <a:off x="7529289" y="5991576"/>
            <a:ext cx="1386111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97716880-9921-A310-9F60-C54051A812EF}"/>
              </a:ext>
            </a:extLst>
          </p:cNvPr>
          <p:cNvSpPr/>
          <p:nvPr/>
        </p:nvSpPr>
        <p:spPr>
          <a:xfrm>
            <a:off x="8915400" y="5310122"/>
            <a:ext cx="3124940" cy="12553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유저는 기억 파트에서 아이콘이 출력된 순서대로 클릭해야 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알맞게 클릭할 경우 해당 단계가 성공 처리되고 다음 단계에 도전할 수 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단계 모두 성공할 시 버튼 받침대가 열리며 퓨즈 보관함 열쇠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을 획득할 수 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7F6A900A-3CDC-BBFA-A92B-296F3535E0A3}"/>
              </a:ext>
            </a:extLst>
          </p:cNvPr>
          <p:cNvSpPr/>
          <p:nvPr/>
        </p:nvSpPr>
        <p:spPr>
          <a:xfrm>
            <a:off x="4807166" y="1360514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8FB23AC2-9F1D-1C36-04BB-00EC650B4FE4}"/>
              </a:ext>
            </a:extLst>
          </p:cNvPr>
          <p:cNvSpPr/>
          <p:nvPr/>
        </p:nvSpPr>
        <p:spPr>
          <a:xfrm>
            <a:off x="5940641" y="1360514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90FA2C01-7FA5-9558-3277-1523D8DDFFB8}"/>
              </a:ext>
            </a:extLst>
          </p:cNvPr>
          <p:cNvSpPr/>
          <p:nvPr/>
        </p:nvSpPr>
        <p:spPr>
          <a:xfrm>
            <a:off x="7068513" y="1360514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8AAD4D2C-8991-E9E5-6869-13712F05DB28}"/>
              </a:ext>
            </a:extLst>
          </p:cNvPr>
          <p:cNvSpPr/>
          <p:nvPr/>
        </p:nvSpPr>
        <p:spPr>
          <a:xfrm>
            <a:off x="4807166" y="2453032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850C9F99-0C8A-2005-B72D-53B867344B40}"/>
              </a:ext>
            </a:extLst>
          </p:cNvPr>
          <p:cNvSpPr/>
          <p:nvPr/>
        </p:nvSpPr>
        <p:spPr>
          <a:xfrm>
            <a:off x="5940641" y="2453032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877464D7-41BB-4213-68F7-B5A40C54BF71}"/>
              </a:ext>
            </a:extLst>
          </p:cNvPr>
          <p:cNvSpPr/>
          <p:nvPr/>
        </p:nvSpPr>
        <p:spPr>
          <a:xfrm>
            <a:off x="7068513" y="2453032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42E1A585-499A-5EF7-E04F-88F382512F40}"/>
              </a:ext>
            </a:extLst>
          </p:cNvPr>
          <p:cNvSpPr/>
          <p:nvPr/>
        </p:nvSpPr>
        <p:spPr>
          <a:xfrm>
            <a:off x="4807166" y="3562998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9AB3A34E-E121-B0A5-5946-C92E1041DB27}"/>
              </a:ext>
            </a:extLst>
          </p:cNvPr>
          <p:cNvSpPr/>
          <p:nvPr/>
        </p:nvSpPr>
        <p:spPr>
          <a:xfrm>
            <a:off x="5940641" y="3562998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D05E27AB-9524-4341-E61B-A2809A7F045F}"/>
              </a:ext>
            </a:extLst>
          </p:cNvPr>
          <p:cNvSpPr/>
          <p:nvPr/>
        </p:nvSpPr>
        <p:spPr>
          <a:xfrm>
            <a:off x="7068513" y="3562998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1017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905FF-6F8F-2364-A437-8A98914F7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그림 45">
            <a:extLst>
              <a:ext uri="{FF2B5EF4-FFF2-40B4-BE49-F238E27FC236}">
                <a16:creationId xmlns:a16="http://schemas.microsoft.com/office/drawing/2014/main" id="{607026C2-D882-4B09-4B5B-A6B62CDF1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371" y="0"/>
            <a:ext cx="5163258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328F0DC-802C-35B8-8987-D7BAA8159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 연출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AE357B6-C526-AAA1-DFFB-7BED21E8E1C0}"/>
              </a:ext>
            </a:extLst>
          </p:cNvPr>
          <p:cNvSpPr/>
          <p:nvPr/>
        </p:nvSpPr>
        <p:spPr>
          <a:xfrm>
            <a:off x="148809" y="1979204"/>
            <a:ext cx="3124940" cy="11545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퍼즐을 시작하기 전에는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초마다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9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개의 모니터에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1~9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번 아이콘이 중복 없는 무작위 형태로 동시에 출력된다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아이콘 배열은 매 번 달라진다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낮은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‘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지지직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하는 노이즈 소리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64C58C4-CEF9-45D6-6115-5904B51E2447}"/>
              </a:ext>
            </a:extLst>
          </p:cNvPr>
          <p:cNvSpPr/>
          <p:nvPr/>
        </p:nvSpPr>
        <p:spPr>
          <a:xfrm>
            <a:off x="148809" y="1659607"/>
            <a:ext cx="3124940" cy="3195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모니터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2240202E-CC13-6891-BA31-F61705AF9E80}"/>
              </a:ext>
            </a:extLst>
          </p:cNvPr>
          <p:cNvCxnSpPr>
            <a:cxnSpLocks/>
          </p:cNvCxnSpPr>
          <p:nvPr/>
        </p:nvCxnSpPr>
        <p:spPr>
          <a:xfrm flipH="1">
            <a:off x="3219450" y="2181225"/>
            <a:ext cx="776165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3E35AB4-7087-283A-EA19-2ECF75FA7E05}"/>
              </a:ext>
            </a:extLst>
          </p:cNvPr>
          <p:cNvSpPr/>
          <p:nvPr/>
        </p:nvSpPr>
        <p:spPr>
          <a:xfrm>
            <a:off x="3995615" y="451485"/>
            <a:ext cx="4200770" cy="42214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7873933-3E2A-117E-3C54-B649A59ABC78}"/>
              </a:ext>
            </a:extLst>
          </p:cNvPr>
          <p:cNvSpPr/>
          <p:nvPr/>
        </p:nvSpPr>
        <p:spPr>
          <a:xfrm>
            <a:off x="6811625" y="4831873"/>
            <a:ext cx="717664" cy="7212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BD72E8E3-6E50-C431-5C72-30C6A65AC97A}"/>
              </a:ext>
            </a:extLst>
          </p:cNvPr>
          <p:cNvCxnSpPr>
            <a:cxnSpLocks/>
          </p:cNvCxnSpPr>
          <p:nvPr/>
        </p:nvCxnSpPr>
        <p:spPr>
          <a:xfrm flipH="1">
            <a:off x="7529289" y="5201999"/>
            <a:ext cx="1386111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D5492F4-244C-AF15-64B1-02B3ADDA89BA}"/>
              </a:ext>
            </a:extLst>
          </p:cNvPr>
          <p:cNvSpPr/>
          <p:nvPr/>
        </p:nvSpPr>
        <p:spPr>
          <a:xfrm>
            <a:off x="8915400" y="3133726"/>
            <a:ext cx="3124940" cy="36561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클릭 시 버튼이 </a:t>
            </a:r>
            <a:r>
              <a:rPr lang="en-US" altLang="ko-KR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InSine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형태로 눌렸다가 빠르게 돌아온다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이후 모니터에 출력되던 아이콘이 모두 사라지고 퍼즐이 시작된다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기억 파트</a:t>
            </a:r>
            <a:endParaRPr lang="en-US" altLang="ko-KR" sz="12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아이콘의 색이 파란색으로 표시된다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아이콘이 출력될 때마다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‘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지잉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‘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하는 디지털 소리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선택 파트</a:t>
            </a:r>
            <a:endParaRPr lang="en-US" altLang="ko-KR" sz="12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아이콘의 색이 파란색으로 표시되고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알맞은 순서의 아이콘을 클릭 시 초록색으로 표시된다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 ‘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띠링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하는 경쾌한 효과음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틀린 순서의 아이콘을 클릭 시 모든 아이콘이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초간 빨간색으로 출력된다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SFX: ‘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삐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’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하는 경고 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비프음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2DA11237-044B-A922-6A0A-5600F0B9D9AC}"/>
              </a:ext>
            </a:extLst>
          </p:cNvPr>
          <p:cNvSpPr/>
          <p:nvPr/>
        </p:nvSpPr>
        <p:spPr>
          <a:xfrm>
            <a:off x="8915400" y="2814128"/>
            <a:ext cx="3124940" cy="3195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시작 버튼</a:t>
            </a: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17D751E5-4EF5-85F1-617F-372A6F5FCD47}"/>
              </a:ext>
            </a:extLst>
          </p:cNvPr>
          <p:cNvSpPr/>
          <p:nvPr/>
        </p:nvSpPr>
        <p:spPr>
          <a:xfrm>
            <a:off x="4807166" y="1360514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F193C7C2-D874-C470-59A4-8EE30BCB8539}"/>
              </a:ext>
            </a:extLst>
          </p:cNvPr>
          <p:cNvSpPr/>
          <p:nvPr/>
        </p:nvSpPr>
        <p:spPr>
          <a:xfrm>
            <a:off x="5940641" y="1360514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190F918D-2229-634B-454A-2B6674C88722}"/>
              </a:ext>
            </a:extLst>
          </p:cNvPr>
          <p:cNvSpPr/>
          <p:nvPr/>
        </p:nvSpPr>
        <p:spPr>
          <a:xfrm>
            <a:off x="7068513" y="1360514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2C2F0C0A-8F80-9012-E925-EE05222DD575}"/>
              </a:ext>
            </a:extLst>
          </p:cNvPr>
          <p:cNvSpPr/>
          <p:nvPr/>
        </p:nvSpPr>
        <p:spPr>
          <a:xfrm>
            <a:off x="4807166" y="2453032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C9BD80B7-FE02-5731-DCCE-3C7E3CF7BD0F}"/>
              </a:ext>
            </a:extLst>
          </p:cNvPr>
          <p:cNvSpPr/>
          <p:nvPr/>
        </p:nvSpPr>
        <p:spPr>
          <a:xfrm>
            <a:off x="5940641" y="2453032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B271D77B-1D5F-DA47-6DAD-19693127D6D8}"/>
              </a:ext>
            </a:extLst>
          </p:cNvPr>
          <p:cNvSpPr/>
          <p:nvPr/>
        </p:nvSpPr>
        <p:spPr>
          <a:xfrm>
            <a:off x="7068513" y="2453032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EA7F24C4-D61E-27AB-577A-0296894FCFD3}"/>
              </a:ext>
            </a:extLst>
          </p:cNvPr>
          <p:cNvSpPr/>
          <p:nvPr/>
        </p:nvSpPr>
        <p:spPr>
          <a:xfrm>
            <a:off x="4807166" y="3562998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791A2705-1511-84AB-F404-76CE15E8D7D5}"/>
              </a:ext>
            </a:extLst>
          </p:cNvPr>
          <p:cNvSpPr/>
          <p:nvPr/>
        </p:nvSpPr>
        <p:spPr>
          <a:xfrm>
            <a:off x="5940641" y="3562998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B0EDCEBC-3276-C82E-9324-42862F3230F9}"/>
              </a:ext>
            </a:extLst>
          </p:cNvPr>
          <p:cNvSpPr/>
          <p:nvPr/>
        </p:nvSpPr>
        <p:spPr>
          <a:xfrm>
            <a:off x="7068513" y="3562998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97003A4-03A9-756C-5D2A-FF8840C8D169}"/>
              </a:ext>
            </a:extLst>
          </p:cNvPr>
          <p:cNvSpPr/>
          <p:nvPr/>
        </p:nvSpPr>
        <p:spPr>
          <a:xfrm>
            <a:off x="148809" y="4043873"/>
            <a:ext cx="3124940" cy="6290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단계가 높아질 수록 모든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SFX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피치가 높아진다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770E459-1E0D-63DA-D948-56A2F0EF662D}"/>
              </a:ext>
            </a:extLst>
          </p:cNvPr>
          <p:cNvSpPr/>
          <p:nvPr/>
        </p:nvSpPr>
        <p:spPr>
          <a:xfrm>
            <a:off x="148809" y="3724276"/>
            <a:ext cx="3124940" cy="3195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퍼즐 횟수</a:t>
            </a:r>
          </a:p>
        </p:txBody>
      </p:sp>
    </p:spTree>
    <p:extLst>
      <p:ext uri="{BB962C8B-B14F-4D97-AF65-F5344CB8AC3E}">
        <p14:creationId xmlns:p14="http://schemas.microsoft.com/office/powerpoint/2010/main" val="1934613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22E08-5E82-F4D6-2BCE-D433E366E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705634-DF87-A034-7068-688FCBDFE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용액 퍼즐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57E92A8-4887-7E41-1816-D13516817F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062667"/>
              </p:ext>
            </p:extLst>
          </p:nvPr>
        </p:nvGraphicFramePr>
        <p:xfrm>
          <a:off x="457692" y="1219691"/>
          <a:ext cx="5638307" cy="1828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8661">
                  <a:extLst>
                    <a:ext uri="{9D8B030D-6E8A-4147-A177-3AD203B41FA5}">
                      <a16:colId xmlns:a16="http://schemas.microsoft.com/office/drawing/2014/main" val="3594325609"/>
                    </a:ext>
                  </a:extLst>
                </a:gridCol>
                <a:gridCol w="4089646">
                  <a:extLst>
                    <a:ext uri="{9D8B030D-6E8A-4147-A177-3AD203B41FA5}">
                      <a16:colId xmlns:a16="http://schemas.microsoft.com/office/drawing/2014/main" val="12369455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이름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용액 퍼즐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6480655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위치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수술실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491318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유형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조작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365390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퍼즐 목표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버튼을 조작해 모든 튜브의 용액을 균등하게 맞추기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3994556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예상 플레이 시간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4~6</a:t>
                      </a:r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1082837"/>
                  </a:ext>
                </a:extLst>
              </a:tr>
              <a:tr h="2502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난이도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938297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CD2F5E5-CBED-FCC7-5315-BF604E9F44D4}"/>
              </a:ext>
            </a:extLst>
          </p:cNvPr>
          <p:cNvSpPr txBox="1"/>
          <p:nvPr/>
        </p:nvSpPr>
        <p:spPr>
          <a:xfrm>
            <a:off x="457693" y="3429000"/>
            <a:ext cx="5638306" cy="1041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eaLnBrk="1" latinLnBrk="1" hangingPunct="1">
              <a:lnSpc>
                <a:spcPct val="90000"/>
              </a:lnSpc>
              <a:spcBef>
                <a:spcPts val="1000"/>
              </a:spcBef>
              <a:buClrTx/>
              <a:buSzPts val="1800"/>
            </a:pPr>
            <a:endParaRPr lang="en-US" altLang="ko-KR" kern="1200" dirty="0">
              <a:solidFill>
                <a:srgbClr val="00000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  <a:p>
            <a:pPr marL="228600" indent="-228600" algn="l" rtl="0" eaLnBrk="1" latinLnBrk="1" hangingPunct="1">
              <a:lnSpc>
                <a:spcPct val="90000"/>
              </a:lnSpc>
              <a:spcBef>
                <a:spcPts val="1000"/>
              </a:spcBef>
              <a:buClrTx/>
              <a:buSzPts val="1800"/>
              <a:buFont typeface="Arial" panose="020B0604020202020204" pitchFamily="34" charset="0"/>
              <a:buChar char="•"/>
            </a:pPr>
            <a:r>
              <a:rPr lang="ko-KR" altLang="ko-KR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레퍼런</a:t>
            </a:r>
            <a:r>
              <a:rPr lang="ko-KR" altLang="en-US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스</a:t>
            </a:r>
            <a:endParaRPr lang="en-US" altLang="ko-KR" kern="1200" dirty="0">
              <a:solidFill>
                <a:srgbClr val="000000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  <a:p>
            <a:pPr marL="685800" lvl="1" indent="-228600">
              <a:lnSpc>
                <a:spcPct val="90000"/>
              </a:lnSpc>
              <a:spcBef>
                <a:spcPts val="1000"/>
              </a:spcBef>
              <a:buSzPts val="1800"/>
              <a:buFont typeface="Arial" panose="020B0604020202020204" pitchFamily="34" charset="0"/>
              <a:buChar char="•"/>
            </a:pPr>
            <a:r>
              <a:rPr lang="en-US" altLang="ko-KR" sz="1400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BIOHAZARD:RE 2</a:t>
            </a:r>
            <a:r>
              <a:rPr lang="ko-KR" altLang="ko-KR" sz="1400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의 </a:t>
            </a:r>
            <a:r>
              <a:rPr lang="ko-KR" altLang="en-US" sz="1400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연구소</a:t>
            </a:r>
            <a:r>
              <a:rPr lang="ko-KR" altLang="ko-KR" sz="1400" kern="120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 퍼즐</a:t>
            </a:r>
            <a:endParaRPr lang="ko-KR" altLang="ko-KR" sz="1400" dirty="0">
              <a:effectLst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1A99E99-7F14-4A60-9BA9-8AD551B17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450" y="1387301"/>
            <a:ext cx="5527831" cy="4083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60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D8D86-A0B2-6C39-3A9B-9BF9D919D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5F1D84FA-1319-369C-5FE4-6D9B190CE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5872" y="1866849"/>
            <a:ext cx="5527831" cy="408339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39B04BA-2DFB-448A-7B9B-17CF39087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 구조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E8E190C-81EB-1CDE-AD98-D0071385BBA4}"/>
              </a:ext>
            </a:extLst>
          </p:cNvPr>
          <p:cNvSpPr/>
          <p:nvPr/>
        </p:nvSpPr>
        <p:spPr>
          <a:xfrm>
            <a:off x="4444189" y="2248678"/>
            <a:ext cx="1059965" cy="21213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C8DAC61-4AC5-6C16-8ED5-96269EDAF266}"/>
              </a:ext>
            </a:extLst>
          </p:cNvPr>
          <p:cNvCxnSpPr>
            <a:cxnSpLocks/>
          </p:cNvCxnSpPr>
          <p:nvPr/>
        </p:nvCxnSpPr>
        <p:spPr>
          <a:xfrm flipH="1">
            <a:off x="3355759" y="3393643"/>
            <a:ext cx="1088430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03158B9F-58DC-979B-16BE-0AE36928246B}"/>
              </a:ext>
            </a:extLst>
          </p:cNvPr>
          <p:cNvSpPr/>
          <p:nvPr/>
        </p:nvSpPr>
        <p:spPr>
          <a:xfrm>
            <a:off x="136125" y="3035883"/>
            <a:ext cx="3219634" cy="6696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100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최대 용량을 가지고 있는 용액 </a:t>
            </a:r>
            <a:r>
              <a:rPr lang="el-GR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α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초기 용량은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90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FE624DB-D357-15F2-61A1-71F45F7EA338}"/>
              </a:ext>
            </a:extLst>
          </p:cNvPr>
          <p:cNvSpPr/>
          <p:nvPr/>
        </p:nvSpPr>
        <p:spPr>
          <a:xfrm>
            <a:off x="136125" y="2720431"/>
            <a:ext cx="3219634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용액 </a:t>
            </a:r>
            <a:r>
              <a:rPr lang="el-GR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α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6F7D3B0F-92EE-102B-FDE8-8F13AE962FB0}"/>
              </a:ext>
            </a:extLst>
          </p:cNvPr>
          <p:cNvSpPr/>
          <p:nvPr/>
        </p:nvSpPr>
        <p:spPr>
          <a:xfrm>
            <a:off x="4826176" y="3651385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altLang="ko-KR" sz="1800" kern="1200" dirty="0">
                <a:solidFill>
                  <a:schemeClr val="bg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α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7837AFCF-B928-7096-5151-A901242058F0}"/>
              </a:ext>
            </a:extLst>
          </p:cNvPr>
          <p:cNvSpPr/>
          <p:nvPr/>
        </p:nvSpPr>
        <p:spPr>
          <a:xfrm>
            <a:off x="5914607" y="3651385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altLang="ko-KR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β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22CFD2D9-488B-3AD7-65BE-5094BE4BF3D8}"/>
              </a:ext>
            </a:extLst>
          </p:cNvPr>
          <p:cNvSpPr/>
          <p:nvPr/>
        </p:nvSpPr>
        <p:spPr>
          <a:xfrm>
            <a:off x="7015437" y="3651385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altLang="ko-KR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γ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1E3000DF-E627-8673-23D1-931A3AC1383E}"/>
              </a:ext>
            </a:extLst>
          </p:cNvPr>
          <p:cNvSpPr/>
          <p:nvPr/>
        </p:nvSpPr>
        <p:spPr>
          <a:xfrm>
            <a:off x="7008919" y="4370033"/>
            <a:ext cx="310718" cy="31071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E08E3186-A3C8-D886-EAF0-43269580B254}"/>
              </a:ext>
            </a:extLst>
          </p:cNvPr>
          <p:cNvCxnSpPr>
            <a:cxnSpLocks/>
            <a:stCxn id="79" idx="0"/>
            <a:endCxn id="21" idx="4"/>
          </p:cNvCxnSpPr>
          <p:nvPr/>
        </p:nvCxnSpPr>
        <p:spPr>
          <a:xfrm flipH="1" flipV="1">
            <a:off x="6034454" y="4680751"/>
            <a:ext cx="25434" cy="942528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7A6E4A9-9FA8-16EC-F639-2B3DBF54DBF6}"/>
              </a:ext>
            </a:extLst>
          </p:cNvPr>
          <p:cNvSpPr/>
          <p:nvPr/>
        </p:nvSpPr>
        <p:spPr>
          <a:xfrm>
            <a:off x="136125" y="5942877"/>
            <a:ext cx="3556986" cy="8316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클릭 시 용액 </a:t>
            </a:r>
            <a:r>
              <a:rPr lang="el-GR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α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모든 용량이 용액 </a:t>
            </a:r>
            <a:r>
              <a:rPr lang="el-GR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β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이동한다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D083979-78D8-76A6-98BC-FBADA308C899}"/>
              </a:ext>
            </a:extLst>
          </p:cNvPr>
          <p:cNvSpPr/>
          <p:nvPr/>
        </p:nvSpPr>
        <p:spPr>
          <a:xfrm>
            <a:off x="136125" y="5623279"/>
            <a:ext cx="3556986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용액 </a:t>
            </a:r>
            <a:r>
              <a:rPr lang="el-GR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α 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조작 버튼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D2F34071-CE02-7F66-CAF9-079E6F7CBEFD}"/>
              </a:ext>
            </a:extLst>
          </p:cNvPr>
          <p:cNvSpPr/>
          <p:nvPr/>
        </p:nvSpPr>
        <p:spPr>
          <a:xfrm>
            <a:off x="5879095" y="4370033"/>
            <a:ext cx="310718" cy="31071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AA1BF7BD-16B7-7B99-A5C7-8572E0ABCFBB}"/>
              </a:ext>
            </a:extLst>
          </p:cNvPr>
          <p:cNvSpPr/>
          <p:nvPr/>
        </p:nvSpPr>
        <p:spPr>
          <a:xfrm>
            <a:off x="4760971" y="4370033"/>
            <a:ext cx="310718" cy="31071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B22EAB-654E-DA5A-685F-2A9415FB7DB6}"/>
              </a:ext>
            </a:extLst>
          </p:cNvPr>
          <p:cNvSpPr/>
          <p:nvPr/>
        </p:nvSpPr>
        <p:spPr>
          <a:xfrm>
            <a:off x="4434225" y="853159"/>
            <a:ext cx="3314708" cy="6696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80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최대 용량을 가지고 있는 용액 </a:t>
            </a:r>
            <a:r>
              <a:rPr lang="el-GR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β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초기 용량은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40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819B79A-2C31-0297-D2BF-60F335F0BD55}"/>
              </a:ext>
            </a:extLst>
          </p:cNvPr>
          <p:cNvSpPr/>
          <p:nvPr/>
        </p:nvSpPr>
        <p:spPr>
          <a:xfrm>
            <a:off x="4434225" y="533561"/>
            <a:ext cx="3314708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용액 </a:t>
            </a:r>
            <a:r>
              <a:rPr lang="el-GR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β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9D82BC63-CEFB-52FD-EE1C-DDA6E8B158F2}"/>
              </a:ext>
            </a:extLst>
          </p:cNvPr>
          <p:cNvCxnSpPr>
            <a:cxnSpLocks/>
            <a:stCxn id="30" idx="2"/>
            <a:endCxn id="58" idx="0"/>
          </p:cNvCxnSpPr>
          <p:nvPr/>
        </p:nvCxnSpPr>
        <p:spPr>
          <a:xfrm>
            <a:off x="6091579" y="1522843"/>
            <a:ext cx="0" cy="725835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DB9DE60F-93F9-93D4-4B5A-A31AB1FCAF58}"/>
              </a:ext>
            </a:extLst>
          </p:cNvPr>
          <p:cNvCxnSpPr>
            <a:cxnSpLocks/>
            <a:stCxn id="22" idx="4"/>
            <a:endCxn id="32" idx="0"/>
          </p:cNvCxnSpPr>
          <p:nvPr/>
        </p:nvCxnSpPr>
        <p:spPr>
          <a:xfrm rot="5400000">
            <a:off x="2944210" y="3651159"/>
            <a:ext cx="942528" cy="3001712"/>
          </a:xfrm>
          <a:prstGeom prst="bentConnector3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F47BD7B0-EA26-3028-C13A-5463FBD8E732}"/>
              </a:ext>
            </a:extLst>
          </p:cNvPr>
          <p:cNvCxnSpPr>
            <a:cxnSpLocks/>
            <a:stCxn id="24" idx="4"/>
            <a:endCxn id="73" idx="0"/>
          </p:cNvCxnSpPr>
          <p:nvPr/>
        </p:nvCxnSpPr>
        <p:spPr>
          <a:xfrm rot="16200000" flipH="1">
            <a:off x="8255898" y="3589130"/>
            <a:ext cx="942528" cy="3125769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CE04821-A9C4-2ED8-74CD-50AB146F9FCF}"/>
              </a:ext>
            </a:extLst>
          </p:cNvPr>
          <p:cNvSpPr/>
          <p:nvPr/>
        </p:nvSpPr>
        <p:spPr>
          <a:xfrm>
            <a:off x="8994065" y="3031151"/>
            <a:ext cx="3124940" cy="6696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60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최대 용량을 가지고 있는 용액 </a:t>
            </a:r>
            <a:r>
              <a:rPr lang="el-GR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γ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초기 용량은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B1DD2EB-FAE3-C7F6-05B2-16C7BFD89516}"/>
              </a:ext>
            </a:extLst>
          </p:cNvPr>
          <p:cNvSpPr/>
          <p:nvPr/>
        </p:nvSpPr>
        <p:spPr>
          <a:xfrm>
            <a:off x="8994065" y="2715699"/>
            <a:ext cx="3124940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용액 </a:t>
            </a:r>
            <a:r>
              <a:rPr lang="el-GR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γ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CB2B9C5A-73A2-1D3E-2253-C53FB389DB9A}"/>
              </a:ext>
            </a:extLst>
          </p:cNvPr>
          <p:cNvCxnSpPr>
            <a:cxnSpLocks/>
          </p:cNvCxnSpPr>
          <p:nvPr/>
        </p:nvCxnSpPr>
        <p:spPr>
          <a:xfrm flipH="1">
            <a:off x="7748934" y="3393643"/>
            <a:ext cx="1245131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8B8C343A-E51C-9E4B-A5B2-8CDB6DAD7D87}"/>
              </a:ext>
            </a:extLst>
          </p:cNvPr>
          <p:cNvSpPr/>
          <p:nvPr/>
        </p:nvSpPr>
        <p:spPr>
          <a:xfrm>
            <a:off x="6680091" y="2248678"/>
            <a:ext cx="1059965" cy="21213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D30EBBC-2A0B-34CD-BEED-D07CB7E3A5D4}"/>
              </a:ext>
            </a:extLst>
          </p:cNvPr>
          <p:cNvSpPr/>
          <p:nvPr/>
        </p:nvSpPr>
        <p:spPr>
          <a:xfrm>
            <a:off x="5561596" y="2248678"/>
            <a:ext cx="1059965" cy="21213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B3291542-7533-89EC-E1F0-793873265790}"/>
              </a:ext>
            </a:extLst>
          </p:cNvPr>
          <p:cNvSpPr/>
          <p:nvPr/>
        </p:nvSpPr>
        <p:spPr>
          <a:xfrm>
            <a:off x="8524218" y="5942877"/>
            <a:ext cx="3531657" cy="8316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클릭 시 용액 </a:t>
            </a:r>
            <a:r>
              <a:rPr lang="el-GR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γ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모든 용량이 용액 </a:t>
            </a:r>
            <a:r>
              <a:rPr lang="el-GR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α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이동한다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EAC0C1F5-3223-C7DB-610E-D43826785DA9}"/>
              </a:ext>
            </a:extLst>
          </p:cNvPr>
          <p:cNvSpPr/>
          <p:nvPr/>
        </p:nvSpPr>
        <p:spPr>
          <a:xfrm>
            <a:off x="8524218" y="5623279"/>
            <a:ext cx="3531657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용액 </a:t>
            </a:r>
            <a:r>
              <a:rPr lang="el-GR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γ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조작 버튼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EDC44735-1646-E429-D3E7-097A944D4985}"/>
              </a:ext>
            </a:extLst>
          </p:cNvPr>
          <p:cNvSpPr/>
          <p:nvPr/>
        </p:nvSpPr>
        <p:spPr>
          <a:xfrm>
            <a:off x="4236405" y="5942877"/>
            <a:ext cx="3646966" cy="8316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클릭 시 용액 </a:t>
            </a:r>
            <a:r>
              <a:rPr lang="el-GR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β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모든 용량이 용액 </a:t>
            </a:r>
            <a:r>
              <a:rPr lang="el-GR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γ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로 이동한다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2A1EAAF0-4976-13FC-4EBB-60FC3E960D2B}"/>
              </a:ext>
            </a:extLst>
          </p:cNvPr>
          <p:cNvSpPr/>
          <p:nvPr/>
        </p:nvSpPr>
        <p:spPr>
          <a:xfrm>
            <a:off x="4236405" y="5623279"/>
            <a:ext cx="3646966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용액 </a:t>
            </a:r>
            <a:r>
              <a:rPr lang="el-GR" altLang="ko-KR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β</a:t>
            </a:r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조작 버튼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0C831BF-779B-EDC9-D7ED-1E533BD98179}"/>
              </a:ext>
            </a:extLst>
          </p:cNvPr>
          <p:cNvSpPr/>
          <p:nvPr/>
        </p:nvSpPr>
        <p:spPr>
          <a:xfrm>
            <a:off x="136125" y="4130483"/>
            <a:ext cx="3219634" cy="8448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각 조작 버튼을 누를 시 해당 용액이 정해진 용액 병으로 이동한다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기본적으로 모든 용량이 이동하지만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최대 용량에 도달하면 남은 용량은 이동하지 않는다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26F5EB-65B9-F655-4468-08152594BA04}"/>
              </a:ext>
            </a:extLst>
          </p:cNvPr>
          <p:cNvSpPr/>
          <p:nvPr/>
        </p:nvSpPr>
        <p:spPr>
          <a:xfrm>
            <a:off x="136125" y="3810886"/>
            <a:ext cx="3219634" cy="3195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용액 이동</a:t>
            </a:r>
            <a:endParaRPr lang="ko-KR" altLang="en-US" sz="14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4506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862BC-627C-01E5-F312-57C76159F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4F01F7A2-C197-7891-2FCE-E2A1EF009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450" y="1387301"/>
            <a:ext cx="5527831" cy="408339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37D79C7-475F-E7F4-6086-62C557B5D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 풀이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38438C2-FEC1-71CB-ECA3-28AFA91FC7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5303622"/>
              </p:ext>
            </p:extLst>
          </p:nvPr>
        </p:nvGraphicFramePr>
        <p:xfrm>
          <a:off x="332509" y="1838558"/>
          <a:ext cx="5763492" cy="2714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873">
                  <a:extLst>
                    <a:ext uri="{9D8B030D-6E8A-4147-A177-3AD203B41FA5}">
                      <a16:colId xmlns:a16="http://schemas.microsoft.com/office/drawing/2014/main" val="3412110876"/>
                    </a:ext>
                  </a:extLst>
                </a:gridCol>
                <a:gridCol w="1440873">
                  <a:extLst>
                    <a:ext uri="{9D8B030D-6E8A-4147-A177-3AD203B41FA5}">
                      <a16:colId xmlns:a16="http://schemas.microsoft.com/office/drawing/2014/main" val="4129849747"/>
                    </a:ext>
                  </a:extLst>
                </a:gridCol>
                <a:gridCol w="1440873">
                  <a:extLst>
                    <a:ext uri="{9D8B030D-6E8A-4147-A177-3AD203B41FA5}">
                      <a16:colId xmlns:a16="http://schemas.microsoft.com/office/drawing/2014/main" val="3602260745"/>
                    </a:ext>
                  </a:extLst>
                </a:gridCol>
                <a:gridCol w="1440873">
                  <a:extLst>
                    <a:ext uri="{9D8B030D-6E8A-4147-A177-3AD203B41FA5}">
                      <a16:colId xmlns:a16="http://schemas.microsoft.com/office/drawing/2014/main" val="73804228"/>
                    </a:ext>
                  </a:extLst>
                </a:gridCol>
              </a:tblGrid>
              <a:tr h="1833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최대 용량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120</a:t>
                      </a:r>
                    </a:p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초기 용량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70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최대 용량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80</a:t>
                      </a:r>
                    </a:p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초기 용량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50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EA343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최대 용량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50</a:t>
                      </a:r>
                    </a:p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초기 용량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: 30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276037"/>
                  </a:ext>
                </a:extLst>
              </a:tr>
              <a:tr h="18339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클릭 순서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용액 </a:t>
                      </a:r>
                      <a:r>
                        <a:rPr lang="el-GR" altLang="ko-KR" sz="16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α</a:t>
                      </a:r>
                      <a:endParaRPr lang="ko-KR" altLang="en-US" sz="16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용액 </a:t>
                      </a:r>
                      <a:r>
                        <a:rPr lang="el-GR" altLang="ko-KR" sz="16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β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EA34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용액 </a:t>
                      </a:r>
                      <a:r>
                        <a:rPr lang="el-GR" altLang="ko-KR" sz="16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γ</a:t>
                      </a:r>
                      <a:endParaRPr lang="ko-KR" altLang="en-US" sz="1600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0495019"/>
                  </a:ext>
                </a:extLst>
              </a:tr>
              <a:tr h="1833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1. 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α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클릭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(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α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-&gt;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β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40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80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EF67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30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760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2. 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β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클릭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β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-&gt;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γ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40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60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EF67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50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63783"/>
                  </a:ext>
                </a:extLst>
              </a:tr>
              <a:tr h="2434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3. 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γ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클릭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γ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-&gt;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α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90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60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EF67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0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36624"/>
                  </a:ext>
                </a:extLst>
              </a:tr>
              <a:tr h="2761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4. 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β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클릭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β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-&gt;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γ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90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10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EF67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50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392086"/>
                  </a:ext>
                </a:extLst>
              </a:tr>
              <a:tr h="1222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5. 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γ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클릭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γ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-&gt;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α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120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10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EF67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174859"/>
                  </a:ext>
                </a:extLst>
              </a:tr>
              <a:tr h="24349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6. 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α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클릭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(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α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-&gt;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β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50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80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EF67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39028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7. 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β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클릭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β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-&gt;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γ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1200" b="1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50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50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rgbClr val="EF676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50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8224217"/>
                  </a:ext>
                </a:extLst>
              </a:tr>
            </a:tbl>
          </a:graphicData>
        </a:graphic>
      </p:graphicFrame>
      <p:sp>
        <p:nvSpPr>
          <p:cNvPr id="6" name="타원 5">
            <a:extLst>
              <a:ext uri="{FF2B5EF4-FFF2-40B4-BE49-F238E27FC236}">
                <a16:creationId xmlns:a16="http://schemas.microsoft.com/office/drawing/2014/main" id="{32D1B14D-B15B-E8D0-6AFF-713A90601A28}"/>
              </a:ext>
            </a:extLst>
          </p:cNvPr>
          <p:cNvSpPr/>
          <p:nvPr/>
        </p:nvSpPr>
        <p:spPr>
          <a:xfrm>
            <a:off x="7871214" y="3873916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altLang="ko-KR" sz="1800" kern="1200" dirty="0">
                <a:solidFill>
                  <a:schemeClr val="bg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α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5476E0C-8E72-E206-BD66-8EEC5408E928}"/>
              </a:ext>
            </a:extLst>
          </p:cNvPr>
          <p:cNvSpPr/>
          <p:nvPr/>
        </p:nvSpPr>
        <p:spPr>
          <a:xfrm>
            <a:off x="9039547" y="3873916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altLang="ko-KR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β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7978923-1A07-AE4E-175D-9EE2DD7F67CB}"/>
              </a:ext>
            </a:extLst>
          </p:cNvPr>
          <p:cNvSpPr/>
          <p:nvPr/>
        </p:nvSpPr>
        <p:spPr>
          <a:xfrm>
            <a:off x="10175887" y="3873916"/>
            <a:ext cx="310718" cy="31071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altLang="ko-KR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γ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A2A95D0-AA94-B184-DB7C-21DB96B9BC44}"/>
              </a:ext>
            </a:extLst>
          </p:cNvPr>
          <p:cNvSpPr/>
          <p:nvPr/>
        </p:nvSpPr>
        <p:spPr>
          <a:xfrm>
            <a:off x="332509" y="5585065"/>
            <a:ext cx="3124940" cy="6897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모든 용액의 용량을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50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으로 맞출 시 퍼즐이 해결되고 퓨즈 보관함 열쇠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를 획득할 수 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3964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140A7-2F54-D8EA-90B7-496E958B8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AA6AD2-914F-EDDA-6DE7-8C4E81877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퍼즐 연출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8BFF517-13CD-6C70-3362-1F33C7AA2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450" y="1387301"/>
            <a:ext cx="5527831" cy="408339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BEA4371-0029-7CAC-E8A6-ACE01BBF539C}"/>
              </a:ext>
            </a:extLst>
          </p:cNvPr>
          <p:cNvSpPr/>
          <p:nvPr/>
        </p:nvSpPr>
        <p:spPr>
          <a:xfrm>
            <a:off x="8338584" y="4207699"/>
            <a:ext cx="1604406" cy="9235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3369115-D9B5-A9E8-027D-1E8AF7143DDD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9140787" y="5131292"/>
            <a:ext cx="23186" cy="736754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DF0E1C29-6CD8-37D3-4F85-9EC12D8F6D9B}"/>
              </a:ext>
            </a:extLst>
          </p:cNvPr>
          <p:cNvSpPr/>
          <p:nvPr/>
        </p:nvSpPr>
        <p:spPr>
          <a:xfrm>
            <a:off x="7601503" y="6187644"/>
            <a:ext cx="3124940" cy="58601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퍼즐을 해결할 시 해당 보관함이 자동으로 열리고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안에서 퓨즈 보관함 열쇠 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를 획득할 수 있다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39FCB43-5F54-0074-6473-59E8D1D1CE74}"/>
              </a:ext>
            </a:extLst>
          </p:cNvPr>
          <p:cNvSpPr/>
          <p:nvPr/>
        </p:nvSpPr>
        <p:spPr>
          <a:xfrm>
            <a:off x="7601503" y="5868046"/>
            <a:ext cx="3124940" cy="3195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열쇠 보관함</a:t>
            </a:r>
          </a:p>
        </p:txBody>
      </p:sp>
    </p:spTree>
    <p:extLst>
      <p:ext uri="{BB962C8B-B14F-4D97-AF65-F5344CB8AC3E}">
        <p14:creationId xmlns:p14="http://schemas.microsoft.com/office/powerpoint/2010/main" val="4169811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979</TotalTime>
  <Words>1214</Words>
  <Application>Microsoft Office PowerPoint</Application>
  <PresentationFormat>와이드스크린</PresentationFormat>
  <Paragraphs>276</Paragraphs>
  <Slides>15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Noto Sans KR</vt:lpstr>
      <vt:lpstr>맑은 고딕</vt:lpstr>
      <vt:lpstr>Arial</vt:lpstr>
      <vt:lpstr>Office 테마</vt:lpstr>
      <vt:lpstr>Hallucinate 퍼즐 기획서</vt:lpstr>
      <vt:lpstr>수정 내역</vt:lpstr>
      <vt:lpstr>개요</vt:lpstr>
      <vt:lpstr>전력 퍼즐</vt:lpstr>
      <vt:lpstr>퍼즐 구조</vt:lpstr>
      <vt:lpstr>퍼즐 풀이</vt:lpstr>
      <vt:lpstr>퍼즐 연출</vt:lpstr>
      <vt:lpstr>기억 퍼즐</vt:lpstr>
      <vt:lpstr>퍼즐 구조</vt:lpstr>
      <vt:lpstr>퍼즐 풀이</vt:lpstr>
      <vt:lpstr>퍼즐 연출</vt:lpstr>
      <vt:lpstr>용액 퍼즐</vt:lpstr>
      <vt:lpstr>퍼즐 구조</vt:lpstr>
      <vt:lpstr>퍼즐 풀이</vt:lpstr>
      <vt:lpstr>퍼즐 연출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</dc:creator>
  <cp:lastModifiedBy>ES</cp:lastModifiedBy>
  <cp:revision>32</cp:revision>
  <dcterms:created xsi:type="dcterms:W3CDTF">2025-11-06T11:15:36Z</dcterms:created>
  <dcterms:modified xsi:type="dcterms:W3CDTF">2025-11-24T12:51:52Z</dcterms:modified>
</cp:coreProperties>
</file>