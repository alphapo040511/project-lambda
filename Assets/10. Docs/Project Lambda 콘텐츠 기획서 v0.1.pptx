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FA5782-5AEA-43A4-BE3B-55AA163EDA9B}">
  <a:tblStyle styleId="{48FA5782-5AEA-43A4-BE3B-55AA163EDA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NotoSansKR-bold.fntdata"/><Relationship Id="rId12" Type="http://schemas.openxmlformats.org/officeDocument/2006/relationships/slide" Target="slides/slide6.xml"/><Relationship Id="rId23" Type="http://schemas.openxmlformats.org/officeDocument/2006/relationships/font" Target="fonts/NotoSansK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9106f5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f9106f5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c68e1a0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c68e1a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cda4fa86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cda4fa8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e2ecbf52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e2ecbf5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f9106f5b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f9106f5b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e2ecbf5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e2ecbf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2ecbf52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e2ecbf52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e2ecbf52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e2ecbf52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f9106f5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f9106f5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f9106f5b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f9106f5b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f9106f5b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f9106f5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f9106f5b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f9106f5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f9106f5b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f9106f5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00a61de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00a61de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00a61de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00a61de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콘텐츠 기획서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개요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Project Lambda</a:t>
            </a:r>
            <a:r>
              <a:rPr lang="ko"/>
              <a:t>의 콘텐츠 전반을 다룬다.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ko" sz="2200"/>
              <a:t>목차</a:t>
            </a:r>
            <a:endParaRPr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컴퓨터 시스템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퍼즐 시스템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UI 디자인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010050" y="611450"/>
            <a:ext cx="1002300" cy="3495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컴퓨터 상호작용</a:t>
            </a:r>
            <a:endParaRPr sz="1200"/>
          </a:p>
        </p:txBody>
      </p:sp>
      <p:cxnSp>
        <p:nvCxnSpPr>
          <p:cNvPr id="68" name="Google Shape;68;p15"/>
          <p:cNvCxnSpPr>
            <a:stCxn id="67" idx="2"/>
          </p:cNvCxnSpPr>
          <p:nvPr/>
        </p:nvCxnSpPr>
        <p:spPr>
          <a:xfrm>
            <a:off x="1511200" y="960950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/>
          <p:nvPr/>
        </p:nvSpPr>
        <p:spPr>
          <a:xfrm>
            <a:off x="1010038" y="3472304"/>
            <a:ext cx="1002300" cy="349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컴퓨터 메인 UI 출력</a:t>
            </a:r>
            <a:endParaRPr sz="900"/>
          </a:p>
        </p:txBody>
      </p:sp>
      <p:sp>
        <p:nvSpPr>
          <p:cNvPr id="70" name="Google Shape;70;p15"/>
          <p:cNvSpPr/>
          <p:nvPr/>
        </p:nvSpPr>
        <p:spPr>
          <a:xfrm>
            <a:off x="1010038" y="4097804"/>
            <a:ext cx="1002300" cy="349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마우스로 원하는 UI 클릭</a:t>
            </a:r>
            <a:endParaRPr sz="900"/>
          </a:p>
        </p:txBody>
      </p:sp>
      <p:cxnSp>
        <p:nvCxnSpPr>
          <p:cNvPr id="71" name="Google Shape;71;p15"/>
          <p:cNvCxnSpPr/>
          <p:nvPr/>
        </p:nvCxnSpPr>
        <p:spPr>
          <a:xfrm>
            <a:off x="1511288" y="3821804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5"/>
          <p:cNvSpPr/>
          <p:nvPr/>
        </p:nvSpPr>
        <p:spPr>
          <a:xfrm>
            <a:off x="2413138" y="2701754"/>
            <a:ext cx="1614600" cy="11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카메라: 컴퓨터 화면이 75% 정도 차게</a:t>
            </a:r>
            <a:r>
              <a:rPr lang="ko" sz="800">
                <a:solidFill>
                  <a:schemeClr val="dk1"/>
                </a:solidFill>
              </a:rPr>
              <a:t>(컴퓨터 주변이 보이게) </a:t>
            </a:r>
            <a:r>
              <a:rPr lang="ko" sz="800"/>
              <a:t> 부드러운 카메라 이동 (폴아웃 4 카메라 무브)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UI: 상 -&gt; 하 순서로, 글씨는 한 글자씩 출력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컴퓨터와 상호작용 중일 때는 이동 컴퓨터 조작 이외의 행동 불가</a:t>
            </a:r>
            <a:endParaRPr sz="800"/>
          </a:p>
        </p:txBody>
      </p:sp>
      <p:cxnSp>
        <p:nvCxnSpPr>
          <p:cNvPr id="73" name="Google Shape;73;p15"/>
          <p:cNvCxnSpPr>
            <a:stCxn id="69" idx="3"/>
          </p:cNvCxnSpPr>
          <p:nvPr/>
        </p:nvCxnSpPr>
        <p:spPr>
          <a:xfrm>
            <a:off x="2012338" y="3647054"/>
            <a:ext cx="400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/>
          <p:nvPr/>
        </p:nvSpPr>
        <p:spPr>
          <a:xfrm>
            <a:off x="2413138" y="4097804"/>
            <a:ext cx="1614600" cy="74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마우스 호버: 색깔 변경 및 소리 출력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클릭: 소리 및 해당 UI 출력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뒤로가기: 우측 하단의 뒤로가기 UI를 클릭하여 이전 UI로 이동</a:t>
            </a:r>
            <a:endParaRPr sz="800"/>
          </a:p>
        </p:txBody>
      </p:sp>
      <p:cxnSp>
        <p:nvCxnSpPr>
          <p:cNvPr id="75" name="Google Shape;75;p15"/>
          <p:cNvCxnSpPr/>
          <p:nvPr/>
        </p:nvCxnSpPr>
        <p:spPr>
          <a:xfrm>
            <a:off x="2012338" y="4272554"/>
            <a:ext cx="400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/>
          <p:nvPr/>
        </p:nvSpPr>
        <p:spPr>
          <a:xfrm>
            <a:off x="4430200" y="1029675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‘워드’ 퍼즐을 눌렀는가?</a:t>
            </a:r>
            <a:endParaRPr sz="800"/>
          </a:p>
        </p:txBody>
      </p:sp>
      <p:sp>
        <p:nvSpPr>
          <p:cNvPr id="77" name="Google Shape;77;p15"/>
          <p:cNvSpPr/>
          <p:nvPr/>
        </p:nvSpPr>
        <p:spPr>
          <a:xfrm>
            <a:off x="7621450" y="4244396"/>
            <a:ext cx="1002300" cy="3495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상호작용 종료</a:t>
            </a:r>
            <a:endParaRPr sz="1200"/>
          </a:p>
        </p:txBody>
      </p:sp>
      <p:sp>
        <p:nvSpPr>
          <p:cNvPr id="78" name="Google Shape;78;p15"/>
          <p:cNvSpPr/>
          <p:nvPr/>
        </p:nvSpPr>
        <p:spPr>
          <a:xfrm>
            <a:off x="5650725" y="4132796"/>
            <a:ext cx="16146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카메라: 부드러운 카메라 이동</a:t>
            </a:r>
            <a:r>
              <a:rPr lang="ko" sz="800"/>
              <a:t>으로 원래 뷰로 복귀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컴퓨터가 꺼지는 소리와 함꼐 UI 종료, 행동 가능</a:t>
            </a:r>
            <a:endParaRPr sz="800"/>
          </a:p>
        </p:txBody>
      </p:sp>
      <p:cxnSp>
        <p:nvCxnSpPr>
          <p:cNvPr id="79" name="Google Shape;79;p15"/>
          <p:cNvCxnSpPr>
            <a:stCxn id="77" idx="1"/>
            <a:endCxn id="78" idx="3"/>
          </p:cNvCxnSpPr>
          <p:nvPr/>
        </p:nvCxnSpPr>
        <p:spPr>
          <a:xfrm rot="10800000">
            <a:off x="7265350" y="4419146"/>
            <a:ext cx="356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/>
          <p:nvPr/>
        </p:nvSpPr>
        <p:spPr>
          <a:xfrm>
            <a:off x="952075" y="1843875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해당 컴퓨터에 ‘비밀번호’ 퍼즐이 존재하는가?</a:t>
            </a:r>
            <a:endParaRPr sz="700"/>
          </a:p>
        </p:txBody>
      </p:sp>
      <p:cxnSp>
        <p:nvCxnSpPr>
          <p:cNvPr id="81" name="Google Shape;81;p15"/>
          <p:cNvCxnSpPr>
            <a:endCxn id="69" idx="0"/>
          </p:cNvCxnSpPr>
          <p:nvPr/>
        </p:nvCxnSpPr>
        <p:spPr>
          <a:xfrm>
            <a:off x="1511188" y="2613104"/>
            <a:ext cx="0" cy="85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5"/>
          <p:cNvSpPr/>
          <p:nvPr/>
        </p:nvSpPr>
        <p:spPr>
          <a:xfrm>
            <a:off x="1010038" y="1227667"/>
            <a:ext cx="1002300" cy="349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컴퓨터 </a:t>
            </a:r>
            <a:r>
              <a:rPr lang="ko" sz="900"/>
              <a:t>부팅</a:t>
            </a:r>
            <a:r>
              <a:rPr lang="ko" sz="900"/>
              <a:t> UI 출력</a:t>
            </a:r>
            <a:endParaRPr sz="900"/>
          </a:p>
        </p:txBody>
      </p:sp>
      <p:cxnSp>
        <p:nvCxnSpPr>
          <p:cNvPr id="83" name="Google Shape;83;p15"/>
          <p:cNvCxnSpPr/>
          <p:nvPr/>
        </p:nvCxnSpPr>
        <p:spPr>
          <a:xfrm>
            <a:off x="1511200" y="1586450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80" idx="1"/>
            <a:endCxn id="80" idx="0"/>
          </p:cNvCxnSpPr>
          <p:nvPr/>
        </p:nvCxnSpPr>
        <p:spPr>
          <a:xfrm flipH="1" rot="10800000">
            <a:off x="952075" y="1844025"/>
            <a:ext cx="559200" cy="372600"/>
          </a:xfrm>
          <a:prstGeom prst="bentConnector4">
            <a:avLst>
              <a:gd fmla="val -42583" name="adj1"/>
              <a:gd fmla="val 13748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" name="Google Shape;85;p15"/>
          <p:cNvSpPr txBox="1"/>
          <p:nvPr/>
        </p:nvSpPr>
        <p:spPr>
          <a:xfrm>
            <a:off x="-46975" y="1634775"/>
            <a:ext cx="1002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YES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(퍼즐 해결 실패)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13950" y="2728288"/>
            <a:ext cx="844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NO 또는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퍼즐 해결 </a:t>
            </a:r>
            <a:r>
              <a:rPr lang="ko" sz="800">
                <a:solidFill>
                  <a:schemeClr val="dk2"/>
                </a:solidFill>
              </a:rPr>
              <a:t>성공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87" name="Google Shape;87;p15"/>
          <p:cNvCxnSpPr>
            <a:stCxn id="70" idx="2"/>
            <a:endCxn id="76" idx="1"/>
          </p:cNvCxnSpPr>
          <p:nvPr/>
        </p:nvCxnSpPr>
        <p:spPr>
          <a:xfrm rot="-5400000">
            <a:off x="1448188" y="1465304"/>
            <a:ext cx="3045000" cy="2919000"/>
          </a:xfrm>
          <a:prstGeom prst="bentConnector4">
            <a:avLst>
              <a:gd fmla="val -18390" name="adj1"/>
              <a:gd fmla="val 9474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" name="Google Shape;88;p15"/>
          <p:cNvCxnSpPr>
            <a:stCxn id="89" idx="3"/>
            <a:endCxn id="77" idx="0"/>
          </p:cNvCxnSpPr>
          <p:nvPr/>
        </p:nvCxnSpPr>
        <p:spPr>
          <a:xfrm>
            <a:off x="5548450" y="3458689"/>
            <a:ext cx="2574300" cy="78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" name="Google Shape;90;p15"/>
          <p:cNvSpPr txBox="1"/>
          <p:nvPr/>
        </p:nvSpPr>
        <p:spPr>
          <a:xfrm>
            <a:off x="5650725" y="3453000"/>
            <a:ext cx="1002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YES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91" name="Google Shape;91;p15"/>
          <p:cNvCxnSpPr/>
          <p:nvPr/>
        </p:nvCxnSpPr>
        <p:spPr>
          <a:xfrm>
            <a:off x="4989325" y="17751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 txBox="1"/>
          <p:nvPr/>
        </p:nvSpPr>
        <p:spPr>
          <a:xfrm>
            <a:off x="4986075" y="1738425"/>
            <a:ext cx="1002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NO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430200" y="2051175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0" spcFirstLastPara="1" rIns="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‘전력 재분배’ 퍼즐을 </a:t>
            </a:r>
            <a:r>
              <a:rPr lang="ko" sz="800"/>
              <a:t>눌렀</a:t>
            </a:r>
            <a:r>
              <a:rPr lang="ko" sz="800"/>
              <a:t>는가?</a:t>
            </a:r>
            <a:endParaRPr sz="800"/>
          </a:p>
        </p:txBody>
      </p:sp>
      <p:cxnSp>
        <p:nvCxnSpPr>
          <p:cNvPr id="94" name="Google Shape;94;p15"/>
          <p:cNvCxnSpPr/>
          <p:nvPr/>
        </p:nvCxnSpPr>
        <p:spPr>
          <a:xfrm>
            <a:off x="4989325" y="2809939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5"/>
          <p:cNvSpPr txBox="1"/>
          <p:nvPr/>
        </p:nvSpPr>
        <p:spPr>
          <a:xfrm>
            <a:off x="4986075" y="2773189"/>
            <a:ext cx="1002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NO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430200" y="3085939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0" spcFirstLastPara="1" rIns="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컴퓨터 종료 UI를 눌렀는가?</a:t>
            </a:r>
            <a:endParaRPr sz="800"/>
          </a:p>
        </p:txBody>
      </p:sp>
      <p:cxnSp>
        <p:nvCxnSpPr>
          <p:cNvPr id="96" name="Google Shape;96;p15"/>
          <p:cNvCxnSpPr>
            <a:stCxn id="89" idx="2"/>
          </p:cNvCxnSpPr>
          <p:nvPr/>
        </p:nvCxnSpPr>
        <p:spPr>
          <a:xfrm rot="5400000">
            <a:off x="4068625" y="4027939"/>
            <a:ext cx="1117200" cy="724200"/>
          </a:xfrm>
          <a:prstGeom prst="bentConnector3">
            <a:avLst>
              <a:gd fmla="val 997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" name="Google Shape;97;p15"/>
          <p:cNvCxnSpPr>
            <a:stCxn id="76" idx="3"/>
          </p:cNvCxnSpPr>
          <p:nvPr/>
        </p:nvCxnSpPr>
        <p:spPr>
          <a:xfrm>
            <a:off x="5548450" y="1402425"/>
            <a:ext cx="27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5"/>
          <p:cNvSpPr/>
          <p:nvPr/>
        </p:nvSpPr>
        <p:spPr>
          <a:xfrm>
            <a:off x="5823238" y="1227667"/>
            <a:ext cx="1002300" cy="349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‘워드’ 퍼즐 실행</a:t>
            </a:r>
            <a:endParaRPr sz="900"/>
          </a:p>
        </p:txBody>
      </p:sp>
      <p:sp>
        <p:nvSpPr>
          <p:cNvPr id="99" name="Google Shape;99;p15"/>
          <p:cNvSpPr/>
          <p:nvPr/>
        </p:nvSpPr>
        <p:spPr>
          <a:xfrm rot="900665">
            <a:off x="7594476" y="1234262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 rot="900665">
            <a:off x="7703626" y="1244184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>
            <a:off x="5548450" y="2430563"/>
            <a:ext cx="27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5"/>
          <p:cNvSpPr/>
          <p:nvPr/>
        </p:nvSpPr>
        <p:spPr>
          <a:xfrm>
            <a:off x="5823238" y="2255804"/>
            <a:ext cx="1002300" cy="349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</a:t>
            </a:r>
            <a:r>
              <a:rPr lang="ko" sz="900"/>
              <a:t>전력 재분배</a:t>
            </a:r>
            <a:r>
              <a:rPr lang="ko" sz="900"/>
              <a:t>’ 퍼즐 실행</a:t>
            </a:r>
            <a:endParaRPr sz="900"/>
          </a:p>
        </p:txBody>
      </p:sp>
      <p:sp>
        <p:nvSpPr>
          <p:cNvPr id="103" name="Google Shape;103;p15"/>
          <p:cNvSpPr/>
          <p:nvPr/>
        </p:nvSpPr>
        <p:spPr>
          <a:xfrm>
            <a:off x="5775825" y="319902"/>
            <a:ext cx="16146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ko" sz="800">
                <a:solidFill>
                  <a:schemeClr val="dk2"/>
                </a:solidFill>
              </a:rPr>
              <a:t>클리어 시 메인 UI로 이동</a:t>
            </a:r>
            <a:endParaRPr sz="800">
              <a:solidFill>
                <a:schemeClr val="dk2"/>
              </a:solidFill>
            </a:endParaRPr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ko" sz="800">
                <a:solidFill>
                  <a:schemeClr val="dk2"/>
                </a:solidFill>
              </a:rPr>
              <a:t>실패 시 계속 도전 가능</a:t>
            </a:r>
            <a:endParaRPr sz="800">
              <a:solidFill>
                <a:schemeClr val="dk2"/>
              </a:solidFill>
            </a:endParaRPr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ko" sz="800">
                <a:solidFill>
                  <a:schemeClr val="dk2"/>
                </a:solidFill>
              </a:rPr>
              <a:t>도전 중 뒤로가기 UI를 누를 시 이전 UI로 이동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04" name="Google Shape;104;p15"/>
          <p:cNvCxnSpPr>
            <a:stCxn id="98" idx="0"/>
          </p:cNvCxnSpPr>
          <p:nvPr/>
        </p:nvCxnSpPr>
        <p:spPr>
          <a:xfrm rot="10800000">
            <a:off x="6324388" y="910267"/>
            <a:ext cx="0" cy="3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5"/>
          <p:cNvCxnSpPr>
            <a:stCxn id="98" idx="3"/>
            <a:endCxn id="99" idx="1"/>
          </p:cNvCxnSpPr>
          <p:nvPr/>
        </p:nvCxnSpPr>
        <p:spPr>
          <a:xfrm flipH="1" rot="10800000">
            <a:off x="6825538" y="1401817"/>
            <a:ext cx="7698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5"/>
          <p:cNvSpPr/>
          <p:nvPr/>
        </p:nvSpPr>
        <p:spPr>
          <a:xfrm rot="900665">
            <a:off x="371801" y="3467365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 rot="900665">
            <a:off x="480951" y="3477287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15"/>
          <p:cNvCxnSpPr>
            <a:stCxn id="107" idx="3"/>
          </p:cNvCxnSpPr>
          <p:nvPr/>
        </p:nvCxnSpPr>
        <p:spPr>
          <a:xfrm>
            <a:off x="535599" y="3659212"/>
            <a:ext cx="48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" name="Google Shape;109;p15"/>
          <p:cNvCxnSpPr>
            <a:stCxn id="102" idx="3"/>
            <a:endCxn id="110" idx="1"/>
          </p:cNvCxnSpPr>
          <p:nvPr/>
        </p:nvCxnSpPr>
        <p:spPr>
          <a:xfrm flipH="1" rot="10800000">
            <a:off x="6825538" y="2430254"/>
            <a:ext cx="769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5"/>
          <p:cNvSpPr/>
          <p:nvPr/>
        </p:nvSpPr>
        <p:spPr>
          <a:xfrm>
            <a:off x="5823241" y="2824002"/>
            <a:ext cx="16146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ko" sz="800">
                <a:solidFill>
                  <a:schemeClr val="dk2"/>
                </a:solidFill>
              </a:rPr>
              <a:t>클리어 개념이 없는 전력 분배 기믹용 퍼즐</a:t>
            </a:r>
            <a:endParaRPr sz="800">
              <a:solidFill>
                <a:schemeClr val="dk2"/>
              </a:solidFill>
            </a:endParaRPr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</a:pPr>
            <a:r>
              <a:rPr lang="ko" sz="800">
                <a:solidFill>
                  <a:schemeClr val="dk2"/>
                </a:solidFill>
              </a:rPr>
              <a:t>분배 완료 후 언제든지 뒤로가기 UI를 눌러 이전 UI로 이동 가능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 rot="10800000">
            <a:off x="6324400" y="2613200"/>
            <a:ext cx="0" cy="1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5"/>
          <p:cNvSpPr/>
          <p:nvPr/>
        </p:nvSpPr>
        <p:spPr>
          <a:xfrm rot="900665">
            <a:off x="7594476" y="2262647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 rot="900665">
            <a:off x="7703626" y="2272568"/>
            <a:ext cx="55597" cy="349449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986075" y="3858789"/>
            <a:ext cx="10023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NO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개요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본 게임의 배경 설정을 플레이어에게 자연스럽게 설명하고, 게임의 재미요소중 하나인 각종 퍼즐을 설계하기 위한 시스템이다.</a:t>
            </a:r>
            <a:endParaRPr/>
          </a:p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특징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컴퓨터를 상호작용 시 카메라가 컴퓨터에 고정된다. 이 때 플레이어는 컴퓨터 조작 이외의 행동을 할 수 없다.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컴퓨터 조작 중 메인 UI에서 종료 UI를 클릭하거나, Esc(설정) 버튼을 누를 시 컴퓨터 조작이 해제되고 카메라가 원래대로 돌아가며 캐릭터 조작이 가능해진다.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컴퓨터 퍼즐은 </a:t>
            </a:r>
            <a:r>
              <a:rPr i="1" lang="ko"/>
              <a:t>비밀번호 맞추기, 워드 맞추기, 전력 재분배</a:t>
            </a:r>
            <a:r>
              <a:rPr lang="ko"/>
              <a:t>의 3가지 종류가 존재한다.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graphicFrame>
        <p:nvGraphicFramePr>
          <p:cNvPr id="127" name="Google Shape;127;p17"/>
          <p:cNvGraphicFramePr/>
          <p:nvPr/>
        </p:nvGraphicFramePr>
        <p:xfrm>
          <a:off x="5513725" y="135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로딩 문구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켜져 있지 않은 컴퓨터와 상호작용하면 1초간 로딩 화면이 등장한다.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7"/>
          <p:cNvSpPr/>
          <p:nvPr/>
        </p:nvSpPr>
        <p:spPr>
          <a:xfrm>
            <a:off x="5513725" y="834425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690725" y="761394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513725" y="1102750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690725" y="1029719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1 - </a:t>
            </a:r>
            <a:r>
              <a:rPr lang="ko"/>
              <a:t>로딩 화면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478375" y="2648225"/>
            <a:ext cx="2656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rgbClr val="F9CB9C"/>
                </a:solidFill>
              </a:rPr>
              <a:t>LOADING · · ·</a:t>
            </a:r>
            <a:endParaRPr sz="2500">
              <a:solidFill>
                <a:srgbClr val="F9CB9C"/>
              </a:solidFill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1277400" y="28360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graphicFrame>
        <p:nvGraphicFramePr>
          <p:cNvPr id="141" name="Google Shape;141;p18"/>
          <p:cNvGraphicFramePr/>
          <p:nvPr/>
        </p:nvGraphicFramePr>
        <p:xfrm>
          <a:off x="5513725" y="135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비밀 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비밀번호가 존재하는 컴퓨터일 경우 맞는 비밀번호를 입력해야 3 - 메인 화면으로 넘어간다.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틀린 비밀번호를 입력했을 경우 틀렸다는 연출이 출력된다.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힌트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해당 컴퓨터의 비밀번호에 대한 힌트가 표시된다. 존재하지 않을 수도 있다.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59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닫기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컴퓨터 UI를 종료하고 게임 플레이로 돌아간다.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8"/>
          <p:cNvSpPr/>
          <p:nvPr/>
        </p:nvSpPr>
        <p:spPr>
          <a:xfrm>
            <a:off x="5513725" y="834425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690725" y="761394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513725" y="1102750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690725" y="1029719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2 - </a:t>
            </a:r>
            <a:r>
              <a:rPr lang="ko"/>
              <a:t>비밀번호 입력 화면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572375" y="2357100"/>
            <a:ext cx="2656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9CB9C"/>
                </a:solidFill>
              </a:rPr>
              <a:t>비밀번호를 입력하십시오</a:t>
            </a:r>
            <a:endParaRPr sz="1500">
              <a:solidFill>
                <a:srgbClr val="F9CB9C"/>
              </a:solidFill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277400" y="28360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1867425" y="2852125"/>
            <a:ext cx="2066100" cy="4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1947925" y="2878975"/>
            <a:ext cx="13500" cy="38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867425" y="3390100"/>
            <a:ext cx="2656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9CB9C"/>
                </a:solidFill>
              </a:rPr>
              <a:t>힌트: </a:t>
            </a:r>
            <a:endParaRPr sz="1200">
              <a:solidFill>
                <a:srgbClr val="F9CB9C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1438125" y="339010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550525" y="2082075"/>
            <a:ext cx="483000" cy="4830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1016900" y="2251950"/>
            <a:ext cx="1019700" cy="4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휴지통</a:t>
            </a:r>
            <a:endParaRPr/>
          </a:p>
        </p:txBody>
      </p:sp>
      <p:sp>
        <p:nvSpPr>
          <p:cNvPr id="161" name="Google Shape;161;p19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735150" y="225195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1016900" y="2842225"/>
            <a:ext cx="1019700" cy="4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메일함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35150" y="28422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016900" y="3432500"/>
            <a:ext cx="1019700" cy="4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상승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735150" y="343250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1016900" y="4036200"/>
            <a:ext cx="1019700" cy="4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전력 재분배</a:t>
            </a:r>
            <a:endParaRPr sz="1300"/>
          </a:p>
        </p:txBody>
      </p:sp>
      <p:sp>
        <p:nvSpPr>
          <p:cNvPr id="168" name="Google Shape;168;p19"/>
          <p:cNvSpPr/>
          <p:nvPr/>
        </p:nvSpPr>
        <p:spPr>
          <a:xfrm>
            <a:off x="735150" y="403620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4550525" y="2082075"/>
            <a:ext cx="483000" cy="4830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</a:t>
            </a:r>
            <a:endParaRPr/>
          </a:p>
        </p:txBody>
      </p:sp>
      <p:graphicFrame>
        <p:nvGraphicFramePr>
          <p:cNvPr id="171" name="Google Shape;171;p19"/>
          <p:cNvGraphicFramePr/>
          <p:nvPr/>
        </p:nvGraphicFramePr>
        <p:xfrm>
          <a:off x="5513725" y="91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휴지통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숨겨진 단서가 존재할 수 있다. 내부에 파일이 존재할 시 아이콘이 변경된다.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메일함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퍼즐의 단서나 배경 설정이 서술되어 있다.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권한 상승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플레이어의 권한을 상승시킨다.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전력 재분배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맵의 전력을 재분배한다.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닫기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컴퓨터 UI를 종료하고 게임 플레이로 돌아간다.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19"/>
          <p:cNvSpPr/>
          <p:nvPr/>
        </p:nvSpPr>
        <p:spPr>
          <a:xfrm>
            <a:off x="5513725" y="225525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690725" y="152494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513725" y="493850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690725" y="420819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</a:t>
            </a:r>
            <a:r>
              <a:rPr lang="ko" sz="1000">
                <a:solidFill>
                  <a:schemeClr val="dk2"/>
                </a:solidFill>
              </a:rPr>
              <a:t>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3 - </a:t>
            </a:r>
            <a:r>
              <a:rPr lang="ko"/>
              <a:t>메인 화면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634050" y="30171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4550525" y="2082075"/>
            <a:ext cx="483000" cy="483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graphicFrame>
        <p:nvGraphicFramePr>
          <p:cNvPr id="186" name="Google Shape;186;p20"/>
          <p:cNvGraphicFramePr/>
          <p:nvPr/>
        </p:nvGraphicFramePr>
        <p:xfrm>
          <a:off x="5513725" y="912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파일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더블 클릭하면 메모장 형태의 UI가 출력된다.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ko" sz="1100"/>
                        <a:t>메모장 UI는 중복 존재할 수 있고, 닫기 버튼을 누르면 숨겨진다.</a:t>
                      </a:r>
                      <a:endParaRPr i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뒤로 가기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현재 계층의 열려있는 모든 UI를 종료하고 상위 UI로 돌아간다.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20"/>
          <p:cNvSpPr/>
          <p:nvPr/>
        </p:nvSpPr>
        <p:spPr>
          <a:xfrm>
            <a:off x="5513725" y="225632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690725" y="152601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513725" y="493957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690725" y="420926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4 - </a:t>
            </a:r>
            <a:r>
              <a:rPr lang="ko"/>
              <a:t>휴지통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2189400" y="2990275"/>
            <a:ext cx="483000" cy="483000"/>
          </a:xfrm>
          <a:prstGeom prst="foldedCorner">
            <a:avLst>
              <a:gd fmla="val 4444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파일1</a:t>
            </a:r>
            <a:endParaRPr sz="900"/>
          </a:p>
        </p:txBody>
      </p:sp>
      <p:sp>
        <p:nvSpPr>
          <p:cNvPr id="193" name="Google Shape;193;p20"/>
          <p:cNvSpPr/>
          <p:nvPr/>
        </p:nvSpPr>
        <p:spPr>
          <a:xfrm>
            <a:off x="1760100" y="4036675"/>
            <a:ext cx="483000" cy="483000"/>
          </a:xfrm>
          <a:prstGeom prst="foldedCorner">
            <a:avLst>
              <a:gd fmla="val 4444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파일2</a:t>
            </a:r>
            <a:endParaRPr sz="900"/>
          </a:p>
        </p:txBody>
      </p:sp>
      <p:sp>
        <p:nvSpPr>
          <p:cNvPr id="194" name="Google Shape;194;p20"/>
          <p:cNvSpPr/>
          <p:nvPr/>
        </p:nvSpPr>
        <p:spPr>
          <a:xfrm>
            <a:off x="3013100" y="3017125"/>
            <a:ext cx="1049100" cy="13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~~~~~~~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~~~~~~~</a:t>
            </a:r>
            <a:br>
              <a:rPr lang="ko"/>
            </a:br>
            <a:r>
              <a:rPr lang="ko"/>
              <a:t>~~~~~~~</a:t>
            </a:r>
            <a:endParaRPr/>
          </a:p>
        </p:txBody>
      </p:sp>
      <p:cxnSp>
        <p:nvCxnSpPr>
          <p:cNvPr id="195" name="Google Shape;195;p20"/>
          <p:cNvCxnSpPr>
            <a:stCxn id="192" idx="3"/>
          </p:cNvCxnSpPr>
          <p:nvPr/>
        </p:nvCxnSpPr>
        <p:spPr>
          <a:xfrm flipH="1" rot="10800000">
            <a:off x="2672400" y="3225175"/>
            <a:ext cx="335400" cy="66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0"/>
          <p:cNvSpPr/>
          <p:nvPr/>
        </p:nvSpPr>
        <p:spPr>
          <a:xfrm>
            <a:off x="3013100" y="2829325"/>
            <a:ext cx="1049100" cy="26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파일1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3792800" y="2829325"/>
            <a:ext cx="269400" cy="269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733275" y="2286000"/>
            <a:ext cx="205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파일 UI는 직접 드래그하여 옮길 수 있다. </a:t>
            </a:r>
            <a:endParaRPr sz="1200"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1634050" y="30171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4550525" y="2082075"/>
            <a:ext cx="483000" cy="483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graphicFrame>
        <p:nvGraphicFramePr>
          <p:cNvPr id="208" name="Google Shape;208;p21"/>
          <p:cNvGraphicFramePr/>
          <p:nvPr/>
        </p:nvGraphicFramePr>
        <p:xfrm>
          <a:off x="5513725" y="907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메</a:t>
                      </a:r>
                      <a:r>
                        <a:rPr lang="ko" sz="1200"/>
                        <a:t>일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더블 클릭하면 </a:t>
                      </a:r>
                      <a:r>
                        <a:rPr lang="ko" sz="1200"/>
                        <a:t>메일</a:t>
                      </a:r>
                      <a:r>
                        <a:rPr lang="ko" sz="1200"/>
                        <a:t> 형태의 UI가 출력된다.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ko" sz="1100"/>
                        <a:t>메일</a:t>
                      </a:r>
                      <a:r>
                        <a:rPr i="1" lang="ko" sz="1100"/>
                        <a:t> UI는 중복 존재할 수 있고, 닫기 버튼을 누르면 숨겨진다.</a:t>
                      </a:r>
                      <a:endParaRPr i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뒤로 가기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현재 계층의 열려있는 모든 UI를 종료하고 상위 UI로 돌아간다.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21"/>
          <p:cNvSpPr/>
          <p:nvPr/>
        </p:nvSpPr>
        <p:spPr>
          <a:xfrm>
            <a:off x="5513725" y="220546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690725" y="147515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513725" y="488871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690725" y="415840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5 - </a:t>
            </a:r>
            <a:r>
              <a:rPr lang="ko"/>
              <a:t>메일함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2189400" y="2990275"/>
            <a:ext cx="483000" cy="483000"/>
          </a:xfrm>
          <a:prstGeom prst="foldedCorner">
            <a:avLst>
              <a:gd fmla="val 4444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메일</a:t>
            </a:r>
            <a:r>
              <a:rPr lang="ko" sz="900"/>
              <a:t>1</a:t>
            </a:r>
            <a:endParaRPr sz="900"/>
          </a:p>
        </p:txBody>
      </p:sp>
      <p:sp>
        <p:nvSpPr>
          <p:cNvPr id="215" name="Google Shape;215;p21"/>
          <p:cNvSpPr/>
          <p:nvPr/>
        </p:nvSpPr>
        <p:spPr>
          <a:xfrm>
            <a:off x="1760100" y="4036675"/>
            <a:ext cx="483000" cy="483000"/>
          </a:xfrm>
          <a:prstGeom prst="foldedCorner">
            <a:avLst>
              <a:gd fmla="val 4444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메일</a:t>
            </a:r>
            <a:r>
              <a:rPr lang="ko" sz="900"/>
              <a:t>2</a:t>
            </a:r>
            <a:endParaRPr sz="900"/>
          </a:p>
        </p:txBody>
      </p:sp>
      <p:sp>
        <p:nvSpPr>
          <p:cNvPr id="216" name="Google Shape;216;p21"/>
          <p:cNvSpPr/>
          <p:nvPr/>
        </p:nvSpPr>
        <p:spPr>
          <a:xfrm>
            <a:off x="3013100" y="3017125"/>
            <a:ext cx="1049100" cy="13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수신인: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발신인: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발신 날짜: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~~~~~~~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~~~~~~~</a:t>
            </a:r>
            <a:br>
              <a:rPr lang="ko"/>
            </a:br>
            <a:r>
              <a:rPr lang="ko"/>
              <a:t>~~~~~~~</a:t>
            </a:r>
            <a:endParaRPr/>
          </a:p>
        </p:txBody>
      </p:sp>
      <p:cxnSp>
        <p:nvCxnSpPr>
          <p:cNvPr id="217" name="Google Shape;217;p21"/>
          <p:cNvCxnSpPr>
            <a:stCxn id="214" idx="3"/>
          </p:cNvCxnSpPr>
          <p:nvPr/>
        </p:nvCxnSpPr>
        <p:spPr>
          <a:xfrm flipH="1" rot="10800000">
            <a:off x="2672400" y="3225175"/>
            <a:ext cx="335400" cy="66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1"/>
          <p:cNvSpPr/>
          <p:nvPr/>
        </p:nvSpPr>
        <p:spPr>
          <a:xfrm>
            <a:off x="3013100" y="2829325"/>
            <a:ext cx="1049100" cy="26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메일</a:t>
            </a:r>
            <a:r>
              <a:rPr lang="ko"/>
              <a:t>1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3792800" y="2829325"/>
            <a:ext cx="269400" cy="2694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733275" y="2286000"/>
            <a:ext cx="205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메</a:t>
            </a:r>
            <a:r>
              <a:rPr lang="ko" sz="1200">
                <a:solidFill>
                  <a:srgbClr val="EEEEEE"/>
                </a:solidFill>
              </a:rPr>
              <a:t>일 UI는 직접 드래그하여 옮길 수 있다. </a:t>
            </a:r>
            <a:endParaRPr sz="1200"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275125" y="2918500"/>
            <a:ext cx="30627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EA9999"/>
                </a:solidFill>
              </a:rPr>
              <a:t>DENIED</a:t>
            </a:r>
            <a:endParaRPr sz="1800">
              <a:solidFill>
                <a:srgbClr val="EA999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EA9999"/>
                </a:solidFill>
              </a:rPr>
              <a:t>카드 키가 인식되지 않습니다.</a:t>
            </a:r>
            <a:endParaRPr sz="1300">
              <a:solidFill>
                <a:srgbClr val="EA9999"/>
              </a:solidFill>
            </a:endParaRPr>
          </a:p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1216650" y="313900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5513725" y="907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접근 거부 알림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해당하는 권한 카드키를 소지하지 않은 채 ‘권한 상승’ UI를 누르면 출력된다. 1초 후 자동으로 상위 UI로 돌아간다,</a:t>
                      </a:r>
                      <a:endParaRPr i="1" sz="11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5513725" y="220546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690725" y="147515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513725" y="488871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690725" y="415840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6 - </a:t>
            </a:r>
            <a:r>
              <a:rPr lang="ko"/>
              <a:t>권한 상승(1)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275125" y="2574850"/>
            <a:ext cx="3216300" cy="20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popularised in the 1960s with the release of 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0325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4550525" y="2082075"/>
            <a:ext cx="483000" cy="483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graphicFrame>
        <p:nvGraphicFramePr>
          <p:cNvPr id="245" name="Google Shape;245;p23"/>
          <p:cNvGraphicFramePr/>
          <p:nvPr/>
        </p:nvGraphicFramePr>
        <p:xfrm>
          <a:off x="5513725" y="7571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3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86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제어 코드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코드 후보의 단어 중 무작위로 지정된 제어 코드의 알파벳 개수를 나타낸다.</a:t>
                      </a:r>
                      <a:endParaRPr i="1" sz="11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10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남은 횟수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남은 시도 횟수를 나타낸다. 한 번 실패할 때마다 1씩 감소되고, 0이 될 시 실패하여 상위 UI로 이동된다.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10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</a:rPr>
                        <a:t>코드 후보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총 20개의 무작위 단어로 이루어져 있다. 제어 코드와 맞는 단어를 클릭할 시 ‘권한 상승’ 퍼즐 해결에 성공한다. 이후 상위 UI로 이동된다.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69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</a:rPr>
                        <a:t>뒤로 가기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현재 계층의 열려있는 모든 UI를 종료하고 상위 UI로 돌아간다.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23"/>
          <p:cNvSpPr/>
          <p:nvPr/>
        </p:nvSpPr>
        <p:spPr>
          <a:xfrm>
            <a:off x="5513725" y="220546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690725" y="147515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513725" y="488871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690725" y="415840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6 - 권한 상승(2)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560425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31975" y="25748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제어 코드:</a:t>
            </a:r>
            <a:br>
              <a:rPr lang="ko" sz="1200">
                <a:solidFill>
                  <a:srgbClr val="EEEEEE"/>
                </a:solidFill>
              </a:rPr>
            </a:br>
            <a:r>
              <a:rPr lang="ko" sz="1800">
                <a:solidFill>
                  <a:srgbClr val="EEEEEE"/>
                </a:solidFill>
              </a:rPr>
              <a:t>****</a:t>
            </a:r>
            <a:endParaRPr sz="1800">
              <a:solidFill>
                <a:srgbClr val="EEEEEE"/>
              </a:solidFill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0325" y="3199550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31975" y="3692425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남은 횟수:</a:t>
            </a:r>
            <a:endParaRPr sz="1200">
              <a:solidFill>
                <a:srgbClr val="EEEEEE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EEEEEE"/>
                </a:solidFill>
              </a:rPr>
              <a:t>4</a:t>
            </a:r>
            <a:endParaRPr sz="1700"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graphicFrame>
        <p:nvGraphicFramePr>
          <p:cNvPr id="261" name="Google Shape;261;p24"/>
          <p:cNvGraphicFramePr/>
          <p:nvPr/>
        </p:nvGraphicFramePr>
        <p:xfrm>
          <a:off x="5513725" y="907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남은 전력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현재 사용할 수 있는 전력의 수를 나타낸다. 구역 UI를 눌러 해당 구역의 전력을 켜고 끌 수 있다. 전력을 2개 소모하는 구역도 존재한다.</a:t>
                      </a:r>
                      <a:endParaRPr i="1" sz="11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메인 전력실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항상 전력이 들어와 있는 메인 전력실이다. 기본적으로 ‘통제 불가 구역’으로 인식된다. 해당 구역에 있는 컴퓨터만 ‘전력 재분배’ 퍼즐이 존재한다.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전력 구역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전력이 켜져 있는 구역이다. 누를 시 ‘비전력 구역’으로 전환되고 사용된 ‘남은 전력’이 회복된다.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24"/>
          <p:cNvSpPr/>
          <p:nvPr/>
        </p:nvSpPr>
        <p:spPr>
          <a:xfrm>
            <a:off x="5513725" y="220546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690725" y="147515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513725" y="488871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690725" y="415840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7 - </a:t>
            </a:r>
            <a:r>
              <a:rPr lang="ko"/>
              <a:t>전력 재분배</a:t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570325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31975" y="25748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남은 전력:</a:t>
            </a:r>
            <a:endParaRPr sz="1200">
              <a:solidFill>
                <a:srgbClr val="EEEEEE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III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3166225" y="3214150"/>
            <a:ext cx="383400" cy="1356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2213715" y="3290350"/>
            <a:ext cx="3834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 rot="5400000">
            <a:off x="1837340" y="3768400"/>
            <a:ext cx="3834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 rot="5400000">
            <a:off x="2506825" y="3721625"/>
            <a:ext cx="4770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2516127" y="2995600"/>
            <a:ext cx="665400" cy="572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1656255" y="3087040"/>
            <a:ext cx="5727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641023" y="3978600"/>
            <a:ext cx="12882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 rot="5400000">
            <a:off x="3677563" y="3674825"/>
            <a:ext cx="383400" cy="1356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3541905" y="2995600"/>
            <a:ext cx="572700" cy="57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536564" y="3934325"/>
            <a:ext cx="665400" cy="572700"/>
          </a:xfrm>
          <a:prstGeom prst="rect">
            <a:avLst/>
          </a:prstGeom>
          <a:solidFill>
            <a:srgbClr val="FFE599"/>
          </a:solidFill>
          <a:ln cap="flat" cmpd="sng" w="2857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24"/>
          <p:cNvCxnSpPr>
            <a:stCxn id="278" idx="0"/>
            <a:endCxn id="278" idx="1"/>
          </p:cNvCxnSpPr>
          <p:nvPr/>
        </p:nvCxnSpPr>
        <p:spPr>
          <a:xfrm flipH="1">
            <a:off x="3536564" y="3934325"/>
            <a:ext cx="33270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4"/>
          <p:cNvCxnSpPr/>
          <p:nvPr/>
        </p:nvCxnSpPr>
        <p:spPr>
          <a:xfrm flipH="1">
            <a:off x="3536500" y="3944350"/>
            <a:ext cx="576300" cy="41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4"/>
          <p:cNvCxnSpPr/>
          <p:nvPr/>
        </p:nvCxnSpPr>
        <p:spPr>
          <a:xfrm flipH="1">
            <a:off x="3536550" y="4004500"/>
            <a:ext cx="676500" cy="4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4"/>
          <p:cNvCxnSpPr/>
          <p:nvPr/>
        </p:nvCxnSpPr>
        <p:spPr>
          <a:xfrm flipH="1">
            <a:off x="3683864" y="4104725"/>
            <a:ext cx="529200" cy="4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4"/>
          <p:cNvCxnSpPr>
            <a:stCxn id="278" idx="3"/>
          </p:cNvCxnSpPr>
          <p:nvPr/>
        </p:nvCxnSpPr>
        <p:spPr>
          <a:xfrm flipH="1">
            <a:off x="3893864" y="4220675"/>
            <a:ext cx="3081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4"/>
          <p:cNvCxnSpPr/>
          <p:nvPr/>
        </p:nvCxnSpPr>
        <p:spPr>
          <a:xfrm flipH="1">
            <a:off x="4044000" y="4390500"/>
            <a:ext cx="180000" cy="1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4"/>
          <p:cNvSpPr/>
          <p:nvPr/>
        </p:nvSpPr>
        <p:spPr>
          <a:xfrm>
            <a:off x="3693550" y="31314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2714225" y="31314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1801979" y="3252139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3747212" y="40839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4550525" y="2082075"/>
            <a:ext cx="483000" cy="483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/>
        </p:nvSpPr>
        <p:spPr>
          <a:xfrm>
            <a:off x="431975" y="19506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 txBox="1"/>
          <p:nvPr>
            <p:ph type="title"/>
          </p:nvPr>
        </p:nvSpPr>
        <p:spPr>
          <a:xfrm>
            <a:off x="311700" y="445025"/>
            <a:ext cx="236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시스템</a:t>
            </a:r>
            <a:endParaRPr/>
          </a:p>
        </p:txBody>
      </p:sp>
      <p:graphicFrame>
        <p:nvGraphicFramePr>
          <p:cNvPr id="297" name="Google Shape;297;p25"/>
          <p:cNvGraphicFramePr/>
          <p:nvPr/>
        </p:nvGraphicFramePr>
        <p:xfrm>
          <a:off x="5513725" y="907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{48FA5782-5AEA-43A4-BE3B-55AA163EDA9B}</a:tableStyleId>
              </a:tblPr>
              <a:tblGrid>
                <a:gridCol w="630250"/>
                <a:gridCol w="723175"/>
                <a:gridCol w="1965150"/>
              </a:tblGrid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번호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이름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설명</a:t>
                      </a:r>
                      <a:endParaRPr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비전력 구역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</a:rPr>
                        <a:t>전력이 꺼져 있는 구역이다. 누를 시 ‘전력 구역’으로 전환되고 ‘남은 전력’이 필요한 만큼 소모된다.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통제 불가</a:t>
                      </a:r>
                      <a:r>
                        <a:rPr lang="ko" sz="1200"/>
                        <a:t> 구역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유저가 전력에 접근할 수 없는 구역이다. 시나리오 진행 중 접근할 수 있게 될 수 있다.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57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뒤로 가기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</a:rPr>
                        <a:t>현재 계층의 열려있는 모든 UI를 종료하고 상위 UI로 돌아간다.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25"/>
          <p:cNvSpPr/>
          <p:nvPr/>
        </p:nvSpPr>
        <p:spPr>
          <a:xfrm>
            <a:off x="5513725" y="220546"/>
            <a:ext cx="177000" cy="177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5690725" y="147515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모든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513725" y="488871"/>
            <a:ext cx="177000" cy="177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5690725" y="415840"/>
            <a:ext cx="1223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특정 컴퓨터에 존재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31975" y="15213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7 - 전력 재분배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0325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431975" y="25748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남은 전력:</a:t>
            </a:r>
            <a:endParaRPr sz="1200">
              <a:solidFill>
                <a:srgbClr val="EEEEEE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III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3166225" y="3214150"/>
            <a:ext cx="383400" cy="1356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2213715" y="3290350"/>
            <a:ext cx="3834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 rot="5400000">
            <a:off x="1837340" y="3768400"/>
            <a:ext cx="3834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 rot="5400000">
            <a:off x="2506825" y="3721625"/>
            <a:ext cx="477000" cy="135600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2516127" y="2995600"/>
            <a:ext cx="665400" cy="572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1656255" y="3087040"/>
            <a:ext cx="5727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1641023" y="3978600"/>
            <a:ext cx="12882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 rot="5400000">
            <a:off x="3677563" y="3674825"/>
            <a:ext cx="383400" cy="1356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3541905" y="2995600"/>
            <a:ext cx="572700" cy="572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3536564" y="3934325"/>
            <a:ext cx="665400" cy="572700"/>
          </a:xfrm>
          <a:prstGeom prst="rect">
            <a:avLst/>
          </a:prstGeom>
          <a:solidFill>
            <a:srgbClr val="FFE599"/>
          </a:solidFill>
          <a:ln cap="flat" cmpd="sng" w="2857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25"/>
          <p:cNvCxnSpPr>
            <a:stCxn id="314" idx="0"/>
            <a:endCxn id="314" idx="1"/>
          </p:cNvCxnSpPr>
          <p:nvPr/>
        </p:nvCxnSpPr>
        <p:spPr>
          <a:xfrm flipH="1">
            <a:off x="3536564" y="3934325"/>
            <a:ext cx="33270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5"/>
          <p:cNvCxnSpPr/>
          <p:nvPr/>
        </p:nvCxnSpPr>
        <p:spPr>
          <a:xfrm flipH="1">
            <a:off x="3536500" y="3944350"/>
            <a:ext cx="576300" cy="41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5"/>
          <p:cNvCxnSpPr/>
          <p:nvPr/>
        </p:nvCxnSpPr>
        <p:spPr>
          <a:xfrm flipH="1">
            <a:off x="3536550" y="4004500"/>
            <a:ext cx="676500" cy="4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5"/>
          <p:cNvCxnSpPr/>
          <p:nvPr/>
        </p:nvCxnSpPr>
        <p:spPr>
          <a:xfrm flipH="1">
            <a:off x="3683864" y="4104725"/>
            <a:ext cx="529200" cy="4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5"/>
          <p:cNvCxnSpPr>
            <a:stCxn id="314" idx="3"/>
          </p:cNvCxnSpPr>
          <p:nvPr/>
        </p:nvCxnSpPr>
        <p:spPr>
          <a:xfrm flipH="1">
            <a:off x="3893864" y="4220675"/>
            <a:ext cx="3081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5"/>
          <p:cNvCxnSpPr/>
          <p:nvPr/>
        </p:nvCxnSpPr>
        <p:spPr>
          <a:xfrm flipH="1">
            <a:off x="4044000" y="4390500"/>
            <a:ext cx="180000" cy="1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5"/>
          <p:cNvSpPr/>
          <p:nvPr/>
        </p:nvSpPr>
        <p:spPr>
          <a:xfrm>
            <a:off x="3693550" y="31314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714225" y="31314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1801979" y="3252139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3747212" y="4083900"/>
            <a:ext cx="269400" cy="26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</a:t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4550525" y="2082075"/>
            <a:ext cx="483000" cy="483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4062200" y="2108925"/>
            <a:ext cx="429300" cy="42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퍼즐</a:t>
            </a:r>
            <a:r>
              <a:rPr lang="ko"/>
              <a:t> 시스템</a:t>
            </a:r>
            <a:endParaRPr/>
          </a:p>
        </p:txBody>
      </p:sp>
      <p:sp>
        <p:nvSpPr>
          <p:cNvPr id="332" name="Google Shape;3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개요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게임 플레이의 핵심 재미요소로, 유저에게 플레이 동기와 성취감을 주기 위해 존재한다.</a:t>
            </a:r>
            <a:endParaRPr/>
          </a:p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특징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퍼즐은 ‘컴퓨터 퍼즐’과 ‘현실 퍼즐’이 존재한다.</a:t>
            </a:r>
            <a:endParaRPr/>
          </a:p>
          <a:p>
            <a:pPr indent="-196899" lvl="2" marL="93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‘컴퓨터 퍼즐’은 컴퓨터 내에 존재하는 퍼즐이다.</a:t>
            </a:r>
            <a:endParaRPr/>
          </a:p>
          <a:p>
            <a:pPr indent="-196899" lvl="2" marL="93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‘현실 퍼즐’은 레벨 곳곳에 존재하는 퍼즐이다.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퍼즐을 해결할 시 단서/아이템 획득, 구역 해금 등의 보상이 존재한다.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퍼즐 시스템</a:t>
            </a:r>
            <a:endParaRPr/>
          </a:p>
        </p:txBody>
      </p:sp>
      <p:sp>
        <p:nvSpPr>
          <p:cNvPr id="338" name="Google Shape;338;p27"/>
          <p:cNvSpPr/>
          <p:nvPr/>
        </p:nvSpPr>
        <p:spPr>
          <a:xfrm>
            <a:off x="431975" y="14470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1275125" y="2071250"/>
            <a:ext cx="3216300" cy="20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popularised in the 1960s with the release of 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431975" y="10177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퍼즐 - 워드 맞추기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431975" y="20712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제어 코드:</a:t>
            </a:r>
            <a:br>
              <a:rPr lang="ko" sz="1200">
                <a:solidFill>
                  <a:srgbClr val="EEEEEE"/>
                </a:solidFill>
              </a:rPr>
            </a:br>
            <a:r>
              <a:rPr lang="ko" sz="1800">
                <a:solidFill>
                  <a:srgbClr val="EEEEEE"/>
                </a:solidFill>
              </a:rPr>
              <a:t>****</a:t>
            </a:r>
            <a:endParaRPr sz="1800">
              <a:solidFill>
                <a:srgbClr val="EEEEEE"/>
              </a:solidFill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431975" y="3188825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남은 횟수:</a:t>
            </a:r>
            <a:endParaRPr sz="1200">
              <a:solidFill>
                <a:srgbClr val="EEEEEE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EEEEEE"/>
                </a:solidFill>
              </a:rPr>
              <a:t>4</a:t>
            </a:r>
            <a:endParaRPr sz="1700">
              <a:solidFill>
                <a:srgbClr val="EEEEEE"/>
              </a:solidFill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180975" y="260250"/>
            <a:ext cx="36513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설명</a:t>
            </a:r>
            <a:endParaRPr/>
          </a:p>
        </p:txBody>
      </p:sp>
      <p:sp>
        <p:nvSpPr>
          <p:cNvPr id="344" name="Google Shape;344;p27"/>
          <p:cNvSpPr/>
          <p:nvPr/>
        </p:nvSpPr>
        <p:spPr>
          <a:xfrm>
            <a:off x="5180975" y="595650"/>
            <a:ext cx="3651300" cy="282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컴퓨터 화면 중앙에 무작위로 20개의 자릿수가 같은 영단어가 등장한다.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그 중 1개의 영단어가 제어 코드로 설정된다.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화면 좌측에는 설정된 제어 코드의 자릿수와 남은 횟수가 표시된다.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제어 코드와 다른 영단어를 클릭할 경우, 남은 횟수가 1 차감되고 클릭한 영단어와 제어 코드 사이에 맞는 글자 수를 출력한다.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남은 횟수가 0이 될 시 퍼즐이 초기화된다.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제어 코드와 동일한 영단어를 클릭할 경우 퍼즐이 해결된다.</a:t>
            </a:r>
            <a:endParaRPr/>
          </a:p>
        </p:txBody>
      </p:sp>
      <p:sp>
        <p:nvSpPr>
          <p:cNvPr id="345" name="Google Shape;345;p27"/>
          <p:cNvSpPr/>
          <p:nvPr/>
        </p:nvSpPr>
        <p:spPr>
          <a:xfrm>
            <a:off x="5180975" y="3421050"/>
            <a:ext cx="36513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비고</a:t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5180975" y="3756450"/>
            <a:ext cx="3651300" cy="13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워드 맞추기 퍼즐은 하, 중, 상 난이도로 나뉘어진다. 난이도에 따라 영단어의 자릿수가 결정된다. </a:t>
            </a:r>
            <a:r>
              <a:rPr i="1" lang="ko" sz="1200"/>
              <a:t>하: 4 / 중: 6 / 상: 8</a:t>
            </a:r>
            <a:endParaRPr i="1" sz="1200"/>
          </a:p>
        </p:txBody>
      </p:sp>
      <p:sp>
        <p:nvSpPr>
          <p:cNvPr id="347" name="Google Shape;347;p27"/>
          <p:cNvSpPr txBox="1"/>
          <p:nvPr/>
        </p:nvSpPr>
        <p:spPr>
          <a:xfrm>
            <a:off x="431975" y="25717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일치: 2</a:t>
            </a:r>
            <a:endParaRPr sz="1800"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퍼즐 시스템</a:t>
            </a:r>
            <a:endParaRPr/>
          </a:p>
        </p:txBody>
      </p:sp>
      <p:sp>
        <p:nvSpPr>
          <p:cNvPr id="353" name="Google Shape;353;p28"/>
          <p:cNvSpPr/>
          <p:nvPr/>
        </p:nvSpPr>
        <p:spPr>
          <a:xfrm>
            <a:off x="431975" y="1447025"/>
            <a:ext cx="4749000" cy="29916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1275125" y="2071250"/>
            <a:ext cx="3216300" cy="20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popularised in the 1960s with the release of </a:t>
            </a:r>
            <a:endParaRPr sz="1200">
              <a:solidFill>
                <a:srgbClr val="EEEEEE"/>
              </a:solidFill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431975" y="1017725"/>
            <a:ext cx="4749000" cy="429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 퍼즐 - 워드 맞추기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431975" y="20712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제어 코드:</a:t>
            </a:r>
            <a:br>
              <a:rPr lang="ko" sz="1200">
                <a:solidFill>
                  <a:srgbClr val="EEEEEE"/>
                </a:solidFill>
              </a:rPr>
            </a:br>
            <a:r>
              <a:rPr lang="ko" sz="1800">
                <a:solidFill>
                  <a:srgbClr val="EEEEEE"/>
                </a:solidFill>
              </a:rPr>
              <a:t>****</a:t>
            </a:r>
            <a:endParaRPr sz="1800">
              <a:solidFill>
                <a:srgbClr val="EEEEEE"/>
              </a:solidFill>
            </a:endParaRPr>
          </a:p>
        </p:txBody>
      </p:sp>
      <p:sp>
        <p:nvSpPr>
          <p:cNvPr id="357" name="Google Shape;357;p28"/>
          <p:cNvSpPr txBox="1"/>
          <p:nvPr/>
        </p:nvSpPr>
        <p:spPr>
          <a:xfrm>
            <a:off x="431975" y="3188825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남은 횟수:</a:t>
            </a:r>
            <a:endParaRPr sz="1200">
              <a:solidFill>
                <a:srgbClr val="EEEEEE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EEEEEE"/>
                </a:solidFill>
              </a:rPr>
              <a:t>4</a:t>
            </a:r>
            <a:endParaRPr sz="1700">
              <a:solidFill>
                <a:srgbClr val="EEEEEE"/>
              </a:solidFill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5180975" y="260250"/>
            <a:ext cx="36513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설명</a:t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5180975" y="595650"/>
            <a:ext cx="3651300" cy="282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컴퓨터 화면 중앙에 무작위로 20개의 자릿수가 같은 영단어가 등장한다.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그 중 1개의 영단어가 제어 코드로 설정된다.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화면 좌측에는 설정된 제어 코드의 자릿수와 남은 횟수가 표시된다.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제어 코드와 다른 영단어를 클릭할 경우, 남은 횟수가 1 차감되고 클릭한 영단어와 제어 코드 사이에 맞는 글자 수를 출력한다.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남은 횟수가 0이 될 시 퍼즐이 초기화된다.</a:t>
            </a:r>
            <a:endParaRPr/>
          </a:p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"/>
              <a:t>제어 코드와 동일한 영단어를 클릭할 경우 퍼즐이 해결된다.</a:t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5180975" y="3421050"/>
            <a:ext cx="36513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비고</a:t>
            </a:r>
            <a:endParaRPr/>
          </a:p>
        </p:txBody>
      </p:sp>
      <p:sp>
        <p:nvSpPr>
          <p:cNvPr id="361" name="Google Shape;361;p28"/>
          <p:cNvSpPr/>
          <p:nvPr/>
        </p:nvSpPr>
        <p:spPr>
          <a:xfrm>
            <a:off x="5180975" y="3756450"/>
            <a:ext cx="3651300" cy="132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900" lvl="0" marL="21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워드 맞추기 퍼즐은 하, 중, 상 난이도로 나뉘어진다. 난이도에 따라 영단어의 자릿수가 결정된다. </a:t>
            </a:r>
            <a:r>
              <a:rPr i="1" lang="ko" sz="1200"/>
              <a:t>하: 4 / 중: 6 / 상: 8</a:t>
            </a:r>
            <a:endParaRPr i="1" sz="1200"/>
          </a:p>
        </p:txBody>
      </p:sp>
      <p:sp>
        <p:nvSpPr>
          <p:cNvPr id="362" name="Google Shape;362;p28"/>
          <p:cNvSpPr txBox="1"/>
          <p:nvPr/>
        </p:nvSpPr>
        <p:spPr>
          <a:xfrm>
            <a:off x="431975" y="2571750"/>
            <a:ext cx="84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EEEEEE"/>
                </a:solidFill>
              </a:rPr>
              <a:t>일치: 2</a:t>
            </a:r>
            <a:endParaRPr sz="1800"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