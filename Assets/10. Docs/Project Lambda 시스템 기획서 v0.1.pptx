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aabd681a2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aabd681a2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aabd681a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aabd681a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84a61775fe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84a61775f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4a61775fe_2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4a61775fe_2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4a61775fe_2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4a61775fe_2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ef3ba9ce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ef3ba9ce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8f1444c3f8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8f1444c3f8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ef3ba9ce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8ef3ba9ce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8f1444c3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8f1444c3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시스템 기획서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오브젝트 관찰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2300" lvl="0" marL="2160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개요</a:t>
            </a:r>
            <a:endParaRPr/>
          </a:p>
          <a:p>
            <a:pPr indent="-196899" lvl="1" marL="575999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관찰 시스템은 유저의 게임 몰입감을 증진시키고, 해당 시스템을 이용해 단서를 찾아냈을 때의 성취감을 부여하기 위해 기획된 시스템이다.</a:t>
            </a:r>
            <a:endParaRPr/>
          </a:p>
          <a:p>
            <a:pPr indent="-222300" lvl="0" marL="2160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특징</a:t>
            </a:r>
            <a:endParaRPr/>
          </a:p>
          <a:p>
            <a:pPr indent="-196899" lvl="1" marL="575999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특정 오브젝트와 상호작용할 시 관찰되며, 해당 오브젝트를 회전, 확대시키거나 인벤토리에 획득할 수도 있다.</a:t>
            </a:r>
            <a:endParaRPr/>
          </a:p>
          <a:p>
            <a:pPr indent="-196899" lvl="1" marL="575999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관찰 도중에는 해당 오브젝트를 제외한 배경이 블러 처리 된다.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오브젝트 관찰</a:t>
            </a: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1445500" y="1141175"/>
            <a:ext cx="1002300" cy="572700"/>
          </a:xfrm>
          <a:prstGeom prst="roundRect">
            <a:avLst>
              <a:gd fmla="val 50000" name="adj"/>
            </a:avLst>
          </a:prstGeom>
          <a:solidFill>
            <a:srgbClr val="FFD966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관찰 가능 오브젝트 상호작용</a:t>
            </a:r>
            <a:endParaRPr sz="1000"/>
          </a:p>
        </p:txBody>
      </p:sp>
      <p:cxnSp>
        <p:nvCxnSpPr>
          <p:cNvPr id="68" name="Google Shape;68;p15"/>
          <p:cNvCxnSpPr>
            <a:stCxn id="67" idx="2"/>
          </p:cNvCxnSpPr>
          <p:nvPr/>
        </p:nvCxnSpPr>
        <p:spPr>
          <a:xfrm>
            <a:off x="1946650" y="1713875"/>
            <a:ext cx="0" cy="27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69" name="Google Shape;69;p15"/>
          <p:cNvSpPr/>
          <p:nvPr/>
        </p:nvSpPr>
        <p:spPr>
          <a:xfrm>
            <a:off x="1391075" y="3600946"/>
            <a:ext cx="1118250" cy="745500"/>
          </a:xfrm>
          <a:prstGeom prst="flowChartDecision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7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/>
              <a:t>해당 오브젝트가 획득 가능한 오브젝트인가?</a:t>
            </a:r>
            <a:endParaRPr sz="700"/>
          </a:p>
        </p:txBody>
      </p:sp>
      <p:sp>
        <p:nvSpPr>
          <p:cNvPr id="70" name="Google Shape;70;p15"/>
          <p:cNvSpPr/>
          <p:nvPr/>
        </p:nvSpPr>
        <p:spPr>
          <a:xfrm>
            <a:off x="1445500" y="1989879"/>
            <a:ext cx="1002300" cy="525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해당 오브젝트가 원래 위치에서 화면 중앙으로 부드럽게 이동</a:t>
            </a:r>
            <a:endParaRPr sz="900"/>
          </a:p>
        </p:txBody>
      </p:sp>
      <p:sp>
        <p:nvSpPr>
          <p:cNvPr id="71" name="Google Shape;71;p15"/>
          <p:cNvSpPr txBox="1"/>
          <p:nvPr/>
        </p:nvSpPr>
        <p:spPr>
          <a:xfrm>
            <a:off x="2509400" y="3711196"/>
            <a:ext cx="5187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NO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2848600" y="1394974"/>
            <a:ext cx="1614600" cy="1453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ko" sz="800"/>
              <a:t>오브젝트를 제외한 배경은 블러 처리되고 약간 어두워짐</a:t>
            </a:r>
            <a:endParaRPr sz="800"/>
          </a:p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ko" sz="800"/>
              <a:t>화면 어디든 왼쪽 클릭한 채로 마우스를 회전시킬 시 해당 방향으로 오브젝트가 회전</a:t>
            </a:r>
            <a:endParaRPr sz="800"/>
          </a:p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ko" sz="800"/>
              <a:t>화면 어디든 마우스 휠을 올릴 시 오브젝트 확대(최대 200%), 내릴 시 축소(최대 100%)</a:t>
            </a:r>
            <a:endParaRPr sz="800"/>
          </a:p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ko" sz="800"/>
              <a:t>관찰 UI 출력 시 플레이어 이동 불가, ESC(설정) 키로 내려놓기 / 습득 가능</a:t>
            </a:r>
            <a:endParaRPr sz="800"/>
          </a:p>
        </p:txBody>
      </p:sp>
      <p:cxnSp>
        <p:nvCxnSpPr>
          <p:cNvPr id="73" name="Google Shape;73;p15"/>
          <p:cNvCxnSpPr/>
          <p:nvPr/>
        </p:nvCxnSpPr>
        <p:spPr>
          <a:xfrm>
            <a:off x="2447788" y="2340279"/>
            <a:ext cx="4008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" name="Google Shape;74;p15"/>
          <p:cNvCxnSpPr/>
          <p:nvPr/>
        </p:nvCxnSpPr>
        <p:spPr>
          <a:xfrm>
            <a:off x="1946650" y="2514875"/>
            <a:ext cx="0" cy="27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5" name="Google Shape;75;p15"/>
          <p:cNvSpPr/>
          <p:nvPr/>
        </p:nvSpPr>
        <p:spPr>
          <a:xfrm>
            <a:off x="1445500" y="2790879"/>
            <a:ext cx="1002300" cy="525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오브젝트 하단에 해당 오브젝트의 설명 출력</a:t>
            </a:r>
            <a:endParaRPr sz="900"/>
          </a:p>
        </p:txBody>
      </p:sp>
      <p:cxnSp>
        <p:nvCxnSpPr>
          <p:cNvPr id="76" name="Google Shape;76;p15"/>
          <p:cNvCxnSpPr/>
          <p:nvPr/>
        </p:nvCxnSpPr>
        <p:spPr>
          <a:xfrm>
            <a:off x="1946650" y="3322229"/>
            <a:ext cx="0" cy="27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77" name="Google Shape;77;p15"/>
          <p:cNvSpPr/>
          <p:nvPr/>
        </p:nvSpPr>
        <p:spPr>
          <a:xfrm>
            <a:off x="3158375" y="4545779"/>
            <a:ext cx="1002300" cy="525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내려놓기 버튼 대신 획득하기 버튼 출력</a:t>
            </a:r>
            <a:endParaRPr sz="900"/>
          </a:p>
        </p:txBody>
      </p:sp>
      <p:sp>
        <p:nvSpPr>
          <p:cNvPr id="78" name="Google Shape;78;p15"/>
          <p:cNvSpPr/>
          <p:nvPr/>
        </p:nvSpPr>
        <p:spPr>
          <a:xfrm>
            <a:off x="3158375" y="3711204"/>
            <a:ext cx="1002300" cy="525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chemeClr val="dk1"/>
                </a:solidFill>
              </a:rPr>
              <a:t>오브젝트 설명 하단에 내려놓기 버튼 출력</a:t>
            </a:r>
            <a:endParaRPr sz="900"/>
          </a:p>
        </p:txBody>
      </p:sp>
      <p:cxnSp>
        <p:nvCxnSpPr>
          <p:cNvPr id="79" name="Google Shape;79;p15"/>
          <p:cNvCxnSpPr/>
          <p:nvPr/>
        </p:nvCxnSpPr>
        <p:spPr>
          <a:xfrm>
            <a:off x="2509400" y="3973704"/>
            <a:ext cx="64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0" name="Google Shape;80;p15"/>
          <p:cNvSpPr txBox="1"/>
          <p:nvPr/>
        </p:nvSpPr>
        <p:spPr>
          <a:xfrm>
            <a:off x="1950200" y="4346446"/>
            <a:ext cx="5187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YES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81" name="Google Shape;81;p15"/>
          <p:cNvCxnSpPr>
            <a:stCxn id="69" idx="2"/>
            <a:endCxn id="82" idx="1"/>
          </p:cNvCxnSpPr>
          <p:nvPr/>
        </p:nvCxnSpPr>
        <p:spPr>
          <a:xfrm flipH="1" rot="-5400000">
            <a:off x="2336900" y="3959746"/>
            <a:ext cx="434700" cy="12081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83" name="Google Shape;83;p15"/>
          <p:cNvCxnSpPr/>
          <p:nvPr/>
        </p:nvCxnSpPr>
        <p:spPr>
          <a:xfrm>
            <a:off x="4160675" y="4808279"/>
            <a:ext cx="64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4" name="Google Shape;84;p15"/>
          <p:cNvSpPr/>
          <p:nvPr/>
        </p:nvSpPr>
        <p:spPr>
          <a:xfrm>
            <a:off x="4809575" y="4545779"/>
            <a:ext cx="1002300" cy="525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클릭 시 오브젝트 획득, 인벤토리에 추가</a:t>
            </a:r>
            <a:endParaRPr sz="900"/>
          </a:p>
        </p:txBody>
      </p:sp>
      <p:sp>
        <p:nvSpPr>
          <p:cNvPr id="85" name="Google Shape;85;p15"/>
          <p:cNvSpPr/>
          <p:nvPr/>
        </p:nvSpPr>
        <p:spPr>
          <a:xfrm>
            <a:off x="6460775" y="4545779"/>
            <a:ext cx="1002300" cy="525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관찰 UI 종료 직후 화면 하단에 획득 안내 문구 출력</a:t>
            </a:r>
            <a:endParaRPr sz="900"/>
          </a:p>
        </p:txBody>
      </p:sp>
      <p:cxnSp>
        <p:nvCxnSpPr>
          <p:cNvPr id="86" name="Google Shape;86;p15"/>
          <p:cNvCxnSpPr/>
          <p:nvPr/>
        </p:nvCxnSpPr>
        <p:spPr>
          <a:xfrm>
            <a:off x="5811875" y="4808279"/>
            <a:ext cx="64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7" name="Google Shape;87;p15"/>
          <p:cNvCxnSpPr/>
          <p:nvPr/>
        </p:nvCxnSpPr>
        <p:spPr>
          <a:xfrm>
            <a:off x="4160675" y="3973704"/>
            <a:ext cx="64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8" name="Google Shape;88;p15"/>
          <p:cNvSpPr/>
          <p:nvPr/>
        </p:nvSpPr>
        <p:spPr>
          <a:xfrm>
            <a:off x="4809575" y="3711204"/>
            <a:ext cx="1002300" cy="525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클릭 시 </a:t>
            </a:r>
            <a:r>
              <a:rPr lang="ko" sz="900"/>
              <a:t>관찰 UI 종료, 원래 위치로 오브젝트 이동</a:t>
            </a:r>
            <a:endParaRPr sz="900"/>
          </a:p>
        </p:txBody>
      </p:sp>
      <p:sp>
        <p:nvSpPr>
          <p:cNvPr id="89" name="Google Shape;89;p15"/>
          <p:cNvSpPr/>
          <p:nvPr/>
        </p:nvSpPr>
        <p:spPr>
          <a:xfrm>
            <a:off x="7830000" y="4633521"/>
            <a:ext cx="1002300" cy="349500"/>
          </a:xfrm>
          <a:prstGeom prst="roundRect">
            <a:avLst>
              <a:gd fmla="val 50000" name="adj"/>
            </a:avLst>
          </a:prstGeom>
          <a:solidFill>
            <a:srgbClr val="FFD966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/>
              <a:t>관찰 종료</a:t>
            </a:r>
            <a:endParaRPr sz="1200"/>
          </a:p>
        </p:txBody>
      </p:sp>
      <p:cxnSp>
        <p:nvCxnSpPr>
          <p:cNvPr id="90" name="Google Shape;90;p15"/>
          <p:cNvCxnSpPr>
            <a:stCxn id="85" idx="3"/>
            <a:endCxn id="89" idx="1"/>
          </p:cNvCxnSpPr>
          <p:nvPr/>
        </p:nvCxnSpPr>
        <p:spPr>
          <a:xfrm>
            <a:off x="7463075" y="4808279"/>
            <a:ext cx="366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1" name="Google Shape;91;p15"/>
          <p:cNvCxnSpPr>
            <a:stCxn id="88" idx="3"/>
            <a:endCxn id="89" idx="0"/>
          </p:cNvCxnSpPr>
          <p:nvPr/>
        </p:nvCxnSpPr>
        <p:spPr>
          <a:xfrm>
            <a:off x="5811875" y="3973704"/>
            <a:ext cx="2519400" cy="6597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오브젝트 관찰</a:t>
            </a:r>
            <a:endParaRPr/>
          </a:p>
        </p:txBody>
      </p:sp>
      <p:pic>
        <p:nvPicPr>
          <p:cNvPr id="97" name="Google Shape;9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275" y="725100"/>
            <a:ext cx="7029450" cy="39052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8" name="Google Shape;98;p16" title="search_24dp_FFFFFF_FILL0_wght400_GRAD0_opsz2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4440600" y="3808450"/>
            <a:ext cx="243200" cy="2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/>
          <p:nvPr/>
        </p:nvSpPr>
        <p:spPr>
          <a:xfrm>
            <a:off x="4423650" y="3781700"/>
            <a:ext cx="296700" cy="296700"/>
          </a:xfrm>
          <a:prstGeom prst="ellipse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   </a:t>
            </a:r>
            <a:endParaRPr/>
          </a:p>
        </p:txBody>
      </p:sp>
      <p:cxnSp>
        <p:nvCxnSpPr>
          <p:cNvPr id="100" name="Google Shape;100;p16"/>
          <p:cNvCxnSpPr>
            <a:stCxn id="99" idx="2"/>
          </p:cNvCxnSpPr>
          <p:nvPr/>
        </p:nvCxnSpPr>
        <p:spPr>
          <a:xfrm flipH="1">
            <a:off x="3579150" y="3930050"/>
            <a:ext cx="844500" cy="3228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" name="Google Shape;101;p16"/>
          <p:cNvSpPr txBox="1"/>
          <p:nvPr/>
        </p:nvSpPr>
        <p:spPr>
          <a:xfrm>
            <a:off x="1556200" y="3808450"/>
            <a:ext cx="2012400" cy="751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</a:rPr>
              <a:t>관찰이 가능한 오브젝트는 상호작용이 가능할 시 돋보기 아이콘이 출력된다.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1057325" y="725100"/>
            <a:ext cx="7029600" cy="25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관찰 - 1 (시작)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325" y="982800"/>
            <a:ext cx="7029450" cy="36761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8" name="Google Shape;108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오브젝트 관찰</a:t>
            </a: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1057325" y="725100"/>
            <a:ext cx="7029600" cy="25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관찰 - 2 (</a:t>
            </a:r>
            <a:r>
              <a:rPr lang="ko"/>
              <a:t>관찰 UI)</a:t>
            </a:r>
            <a:endParaRPr/>
          </a:p>
        </p:txBody>
      </p:sp>
      <p:sp>
        <p:nvSpPr>
          <p:cNvPr id="110" name="Google Shape;110;p17"/>
          <p:cNvSpPr txBox="1"/>
          <p:nvPr/>
        </p:nvSpPr>
        <p:spPr>
          <a:xfrm>
            <a:off x="1126900" y="2298725"/>
            <a:ext cx="2012400" cy="751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</a:rPr>
              <a:t>관찰 중인 오브젝트가 화면의 중앙으로 부드럽게 이동된다.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11" name="Google Shape;111;p17"/>
          <p:cNvSpPr/>
          <p:nvPr/>
        </p:nvSpPr>
        <p:spPr>
          <a:xfrm>
            <a:off x="4097100" y="2240375"/>
            <a:ext cx="867900" cy="8679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2" name="Google Shape;112;p17"/>
          <p:cNvCxnSpPr>
            <a:stCxn id="110" idx="3"/>
            <a:endCxn id="111" idx="2"/>
          </p:cNvCxnSpPr>
          <p:nvPr/>
        </p:nvCxnSpPr>
        <p:spPr>
          <a:xfrm>
            <a:off x="3139300" y="2674325"/>
            <a:ext cx="957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" name="Google Shape;113;p17"/>
          <p:cNvSpPr txBox="1"/>
          <p:nvPr/>
        </p:nvSpPr>
        <p:spPr>
          <a:xfrm>
            <a:off x="6450400" y="1135200"/>
            <a:ext cx="1372200" cy="4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lt1"/>
                </a:solidFill>
              </a:rPr>
              <a:t>회전: 마우스 드래그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>
                <a:solidFill>
                  <a:schemeClr val="lt1"/>
                </a:solidFill>
              </a:rPr>
              <a:t>확대/축소: 마우스 휠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114" name="Google Shape;114;p17"/>
          <p:cNvSpPr txBox="1"/>
          <p:nvPr/>
        </p:nvSpPr>
        <p:spPr>
          <a:xfrm>
            <a:off x="1126900" y="1077923"/>
            <a:ext cx="2012400" cy="426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</a:rPr>
              <a:t>뒷 배경은 블러 처리되고 밝기가 어두워진다.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1126900" y="3965601"/>
            <a:ext cx="2012400" cy="611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</a:rPr>
              <a:t>획득할 수 있는 오브젝트라면 ‘획득하기’ 버튼이, 아니라면 ‘내려놓기’ 버튼이 출력된다. 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4052100" y="4072875"/>
            <a:ext cx="957900" cy="25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획득하기</a:t>
            </a:r>
            <a:endParaRPr/>
          </a:p>
        </p:txBody>
      </p:sp>
      <p:sp>
        <p:nvSpPr>
          <p:cNvPr id="117" name="Google Shape;117;p17"/>
          <p:cNvSpPr txBox="1"/>
          <p:nvPr/>
        </p:nvSpPr>
        <p:spPr>
          <a:xfrm>
            <a:off x="3524850" y="3160148"/>
            <a:ext cx="2012400" cy="426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</a:rPr>
              <a:t>해당 오브젝트의 설명이 출력된다.</a:t>
            </a:r>
            <a:endParaRPr sz="12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오브젝트 관찰</a:t>
            </a:r>
            <a:endParaRPr/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7275" y="725100"/>
            <a:ext cx="7029450" cy="39052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124" name="Google Shape;124;p18"/>
          <p:cNvCxnSpPr>
            <a:endCxn id="125" idx="2"/>
          </p:cNvCxnSpPr>
          <p:nvPr/>
        </p:nvCxnSpPr>
        <p:spPr>
          <a:xfrm rot="10800000">
            <a:off x="2562400" y="2671975"/>
            <a:ext cx="1810200" cy="1112400"/>
          </a:xfrm>
          <a:prstGeom prst="bentConnector2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18"/>
          <p:cNvSpPr txBox="1"/>
          <p:nvPr/>
        </p:nvSpPr>
        <p:spPr>
          <a:xfrm>
            <a:off x="1556200" y="1591075"/>
            <a:ext cx="2012400" cy="1080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</a:rPr>
              <a:t>‘획득하기’ 버튼을 누르면  해당 오브젝트가 사라지고 인벤토리에 추가된다.</a:t>
            </a:r>
            <a:br>
              <a:rPr lang="ko" sz="1200">
                <a:solidFill>
                  <a:schemeClr val="lt1"/>
                </a:solidFill>
              </a:rPr>
            </a:br>
            <a:r>
              <a:rPr lang="ko" sz="1200">
                <a:solidFill>
                  <a:schemeClr val="lt1"/>
                </a:solidFill>
              </a:rPr>
              <a:t>‘내려놓기’ 버튼을 누르면 다시 원래 자리에 배치된다.</a:t>
            </a:r>
            <a:endParaRPr sz="1200">
              <a:solidFill>
                <a:schemeClr val="lt1"/>
              </a:solidFill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1057325" y="725100"/>
            <a:ext cx="7029600" cy="257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관찰 - 3 (</a:t>
            </a:r>
            <a:r>
              <a:rPr lang="ko"/>
              <a:t>종료)</a:t>
            </a:r>
            <a:endParaRPr/>
          </a:p>
        </p:txBody>
      </p:sp>
      <p:sp>
        <p:nvSpPr>
          <p:cNvPr id="127" name="Google Shape;127;p18"/>
          <p:cNvSpPr/>
          <p:nvPr/>
        </p:nvSpPr>
        <p:spPr>
          <a:xfrm>
            <a:off x="3908500" y="4197025"/>
            <a:ext cx="1327200" cy="43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‘</a:t>
            </a:r>
            <a:r>
              <a:rPr lang="ko"/>
              <a:t>오브젝트’ 획득</a:t>
            </a:r>
            <a:endParaRPr/>
          </a:p>
        </p:txBody>
      </p:sp>
      <p:sp>
        <p:nvSpPr>
          <p:cNvPr id="128" name="Google Shape;128;p18"/>
          <p:cNvSpPr txBox="1"/>
          <p:nvPr/>
        </p:nvSpPr>
        <p:spPr>
          <a:xfrm>
            <a:off x="6074325" y="3549450"/>
            <a:ext cx="2012400" cy="10809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200">
                <a:solidFill>
                  <a:schemeClr val="lt1"/>
                </a:solidFill>
              </a:rPr>
              <a:t>획득 시 알림 UI가 화면 하단에서 부드럽게 올라온다. 3초 후 부드럽게 내려가고 사라진다.</a:t>
            </a:r>
            <a:endParaRPr sz="1200">
              <a:solidFill>
                <a:schemeClr val="lt1"/>
              </a:solidFill>
            </a:endParaRPr>
          </a:p>
        </p:txBody>
      </p:sp>
      <p:cxnSp>
        <p:nvCxnSpPr>
          <p:cNvPr id="129" name="Google Shape;129;p18"/>
          <p:cNvCxnSpPr>
            <a:stCxn id="127" idx="3"/>
          </p:cNvCxnSpPr>
          <p:nvPr/>
        </p:nvCxnSpPr>
        <p:spPr>
          <a:xfrm>
            <a:off x="5235700" y="4413775"/>
            <a:ext cx="8433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진행 상황 저장</a:t>
            </a:r>
            <a:endParaRPr/>
          </a:p>
        </p:txBody>
      </p:sp>
      <p:sp>
        <p:nvSpPr>
          <p:cNvPr id="135" name="Google Shape;13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2300" lvl="0" marL="2160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개요</a:t>
            </a:r>
            <a:endParaRPr/>
          </a:p>
          <a:p>
            <a:pPr indent="-209599" lvl="1" marL="575999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ko"/>
              <a:t>한 번에 게임을 클리어할 수 없는 플레이어들을 위해 게임의 진행 상황을 저장해 종료 후 재시작 시에도 게임을 이어서 진행할 수 있게 하는 시스템이다.</a:t>
            </a:r>
            <a:endParaRPr/>
          </a:p>
          <a:p>
            <a:pPr indent="-222300" lvl="0" marL="2160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특징</a:t>
            </a:r>
            <a:endParaRPr/>
          </a:p>
          <a:p>
            <a:pPr indent="-209599" lvl="1" marL="575999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ko"/>
              <a:t>저장의 종류에는 게임 도중 ‘저장 단말기’ 오브젝트에서 저장하는 ‘수동 저장’ 과 게임 진행 도중 중요한 부분에서 자동으로 저장되는 ‘자동 저장’ 2종류가 존재한다.</a:t>
            </a:r>
            <a:endParaRPr/>
          </a:p>
          <a:p>
            <a:pPr indent="-196899" lvl="1" marL="575999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자동 저장 슬롯은 1개, 수동 저장 슬롯은 5개가 존재한다. 자동 저장 슬롯은 자동 저장이 될 때마다 갱신되고, 수동 저장 슬롯은 5개 중 유저가 원하는 위치에 갱신할 수 있다. 이미 저장되어 있는 슬롯을 다시 선택할 경우, 경고창 출력 후 덮어씌울 수 있다.</a:t>
            </a:r>
            <a:endParaRPr/>
          </a:p>
          <a:p>
            <a:pPr indent="-196899" lvl="1" marL="575999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자동 저장은 레벨 곳곳에 자동 저장 콜라이더를 배치해 플레이어가 해당 콜라이더에 닿을 시 자동 저장되는 형식이다.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type="title"/>
          </p:nvPr>
        </p:nvSpPr>
        <p:spPr>
          <a:xfrm>
            <a:off x="311700" y="445025"/>
            <a:ext cx="386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진행 상황 저장</a:t>
            </a:r>
            <a:endParaRPr/>
          </a:p>
        </p:txBody>
      </p:sp>
      <p:sp>
        <p:nvSpPr>
          <p:cNvPr id="141" name="Google Shape;141;p20"/>
          <p:cNvSpPr/>
          <p:nvPr/>
        </p:nvSpPr>
        <p:spPr>
          <a:xfrm>
            <a:off x="1445500" y="1206975"/>
            <a:ext cx="1002300" cy="441000"/>
          </a:xfrm>
          <a:prstGeom prst="roundRect">
            <a:avLst>
              <a:gd fmla="val 50000" name="adj"/>
            </a:avLst>
          </a:prstGeom>
          <a:solidFill>
            <a:srgbClr val="FFD966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저장 플로우 시작</a:t>
            </a:r>
            <a:endParaRPr sz="1000"/>
          </a:p>
        </p:txBody>
      </p:sp>
      <p:cxnSp>
        <p:nvCxnSpPr>
          <p:cNvPr id="142" name="Google Shape;142;p20"/>
          <p:cNvCxnSpPr>
            <a:stCxn id="141" idx="2"/>
          </p:cNvCxnSpPr>
          <p:nvPr/>
        </p:nvCxnSpPr>
        <p:spPr>
          <a:xfrm>
            <a:off x="1946650" y="1647975"/>
            <a:ext cx="0" cy="27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0"/>
          <p:cNvSpPr/>
          <p:nvPr/>
        </p:nvSpPr>
        <p:spPr>
          <a:xfrm>
            <a:off x="2957025" y="1769371"/>
            <a:ext cx="1118250" cy="745500"/>
          </a:xfrm>
          <a:prstGeom prst="flowChartDecision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7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해당 슬롯이 비어있는 슬롯인가?</a:t>
            </a:r>
            <a:endParaRPr sz="900"/>
          </a:p>
        </p:txBody>
      </p:sp>
      <p:sp>
        <p:nvSpPr>
          <p:cNvPr id="144" name="Google Shape;144;p20"/>
          <p:cNvSpPr/>
          <p:nvPr/>
        </p:nvSpPr>
        <p:spPr>
          <a:xfrm>
            <a:off x="1445500" y="1956929"/>
            <a:ext cx="1002300" cy="525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플레이어가 저장 단말기에 상호작용</a:t>
            </a:r>
            <a:endParaRPr sz="900"/>
          </a:p>
        </p:txBody>
      </p:sp>
      <p:sp>
        <p:nvSpPr>
          <p:cNvPr id="145" name="Google Shape;145;p20"/>
          <p:cNvSpPr txBox="1"/>
          <p:nvPr/>
        </p:nvSpPr>
        <p:spPr>
          <a:xfrm>
            <a:off x="4075350" y="1879621"/>
            <a:ext cx="5187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YES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146" name="Google Shape;146;p20"/>
          <p:cNvCxnSpPr/>
          <p:nvPr/>
        </p:nvCxnSpPr>
        <p:spPr>
          <a:xfrm>
            <a:off x="1946650" y="2514875"/>
            <a:ext cx="0" cy="27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" name="Google Shape;147;p20"/>
          <p:cNvSpPr/>
          <p:nvPr/>
        </p:nvSpPr>
        <p:spPr>
          <a:xfrm>
            <a:off x="1445500" y="2790879"/>
            <a:ext cx="1002300" cy="525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5개의 슬롯 중 원하는 슬롯 선택</a:t>
            </a:r>
            <a:endParaRPr sz="900"/>
          </a:p>
        </p:txBody>
      </p:sp>
      <p:cxnSp>
        <p:nvCxnSpPr>
          <p:cNvPr id="148" name="Google Shape;148;p20"/>
          <p:cNvCxnSpPr/>
          <p:nvPr/>
        </p:nvCxnSpPr>
        <p:spPr>
          <a:xfrm>
            <a:off x="4075350" y="2142129"/>
            <a:ext cx="64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9" name="Google Shape;149;p20"/>
          <p:cNvSpPr txBox="1"/>
          <p:nvPr/>
        </p:nvSpPr>
        <p:spPr>
          <a:xfrm>
            <a:off x="3516150" y="2514871"/>
            <a:ext cx="5187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NO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7830000" y="4633521"/>
            <a:ext cx="1002300" cy="349500"/>
          </a:xfrm>
          <a:prstGeom prst="roundRect">
            <a:avLst>
              <a:gd fmla="val 50000" name="adj"/>
            </a:avLst>
          </a:prstGeom>
          <a:solidFill>
            <a:srgbClr val="FFD966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저장 종료</a:t>
            </a:r>
            <a:endParaRPr sz="1000"/>
          </a:p>
        </p:txBody>
      </p:sp>
      <p:cxnSp>
        <p:nvCxnSpPr>
          <p:cNvPr id="151" name="Google Shape;151;p20"/>
          <p:cNvCxnSpPr/>
          <p:nvPr/>
        </p:nvCxnSpPr>
        <p:spPr>
          <a:xfrm>
            <a:off x="3516150" y="2514875"/>
            <a:ext cx="0" cy="27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2" name="Google Shape;152;p20"/>
          <p:cNvCxnSpPr>
            <a:stCxn id="147" idx="3"/>
            <a:endCxn id="143" idx="1"/>
          </p:cNvCxnSpPr>
          <p:nvPr/>
        </p:nvCxnSpPr>
        <p:spPr>
          <a:xfrm flipH="1" rot="10800000">
            <a:off x="2447800" y="2141979"/>
            <a:ext cx="509100" cy="911400"/>
          </a:xfrm>
          <a:prstGeom prst="bentConnector3">
            <a:avLst>
              <a:gd fmla="val 5001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53" name="Google Shape;153;p20"/>
          <p:cNvSpPr txBox="1"/>
          <p:nvPr/>
        </p:nvSpPr>
        <p:spPr>
          <a:xfrm>
            <a:off x="5207850" y="3426122"/>
            <a:ext cx="5187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NO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154" name="Google Shape;154;p20"/>
          <p:cNvCxnSpPr/>
          <p:nvPr/>
        </p:nvCxnSpPr>
        <p:spPr>
          <a:xfrm>
            <a:off x="5207850" y="3426126"/>
            <a:ext cx="0" cy="27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p20"/>
          <p:cNvSpPr/>
          <p:nvPr/>
        </p:nvSpPr>
        <p:spPr>
          <a:xfrm>
            <a:off x="4724250" y="1879629"/>
            <a:ext cx="1002300" cy="525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해당 슬롯에 진행 상황 저장</a:t>
            </a:r>
            <a:endParaRPr sz="900"/>
          </a:p>
        </p:txBody>
      </p:sp>
      <p:sp>
        <p:nvSpPr>
          <p:cNvPr id="156" name="Google Shape;156;p20"/>
          <p:cNvSpPr/>
          <p:nvPr/>
        </p:nvSpPr>
        <p:spPr>
          <a:xfrm>
            <a:off x="4724250" y="1298625"/>
            <a:ext cx="2238000" cy="349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ko" sz="800"/>
              <a:t>플레이어가 저장 중이라는 걸 인지할 수 있도록 저장 도중 시각적 로딩 효과와 전자 비프음 출력</a:t>
            </a:r>
            <a:endParaRPr sz="800"/>
          </a:p>
        </p:txBody>
      </p:sp>
      <p:cxnSp>
        <p:nvCxnSpPr>
          <p:cNvPr id="157" name="Google Shape;157;p20"/>
          <p:cNvCxnSpPr>
            <a:stCxn id="155" idx="0"/>
          </p:cNvCxnSpPr>
          <p:nvPr/>
        </p:nvCxnSpPr>
        <p:spPr>
          <a:xfrm rot="10800000">
            <a:off x="5225400" y="1660029"/>
            <a:ext cx="0" cy="21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8" name="Google Shape;158;p20"/>
          <p:cNvSpPr/>
          <p:nvPr/>
        </p:nvSpPr>
        <p:spPr>
          <a:xfrm>
            <a:off x="7830000" y="2790879"/>
            <a:ext cx="1002300" cy="525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/>
              <a:t>저장 완료 팝업 출력 이후 자동으로 저장 UI 종료</a:t>
            </a:r>
            <a:endParaRPr sz="800"/>
          </a:p>
        </p:txBody>
      </p:sp>
      <p:sp>
        <p:nvSpPr>
          <p:cNvPr id="159" name="Google Shape;159;p20"/>
          <p:cNvSpPr/>
          <p:nvPr/>
        </p:nvSpPr>
        <p:spPr>
          <a:xfrm>
            <a:off x="3014975" y="2790879"/>
            <a:ext cx="1002300" cy="525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경고 팝업 출력, 저장 유무 선택</a:t>
            </a:r>
            <a:endParaRPr sz="900"/>
          </a:p>
        </p:txBody>
      </p:sp>
      <p:cxnSp>
        <p:nvCxnSpPr>
          <p:cNvPr id="160" name="Google Shape;160;p20"/>
          <p:cNvCxnSpPr/>
          <p:nvPr/>
        </p:nvCxnSpPr>
        <p:spPr>
          <a:xfrm>
            <a:off x="4010250" y="3053379"/>
            <a:ext cx="64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0"/>
          <p:cNvSpPr/>
          <p:nvPr/>
        </p:nvSpPr>
        <p:spPr>
          <a:xfrm>
            <a:off x="4666275" y="2680621"/>
            <a:ext cx="1118250" cy="745500"/>
          </a:xfrm>
          <a:prstGeom prst="flowChartDecision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7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비어있지 않은 슬롯에 저장하는가?</a:t>
            </a:r>
            <a:endParaRPr sz="900"/>
          </a:p>
        </p:txBody>
      </p:sp>
      <p:sp>
        <p:nvSpPr>
          <p:cNvPr id="162" name="Google Shape;162;p20"/>
          <p:cNvSpPr txBox="1"/>
          <p:nvPr/>
        </p:nvSpPr>
        <p:spPr>
          <a:xfrm>
            <a:off x="5791650" y="2790871"/>
            <a:ext cx="5187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YES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163" name="Google Shape;163;p20"/>
          <p:cNvCxnSpPr>
            <a:stCxn id="161" idx="3"/>
            <a:endCxn id="164" idx="1"/>
          </p:cNvCxnSpPr>
          <p:nvPr/>
        </p:nvCxnSpPr>
        <p:spPr>
          <a:xfrm>
            <a:off x="5784525" y="3053371"/>
            <a:ext cx="5910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4" name="Google Shape;164;p20"/>
          <p:cNvSpPr/>
          <p:nvPr/>
        </p:nvSpPr>
        <p:spPr>
          <a:xfrm>
            <a:off x="6375513" y="2790879"/>
            <a:ext cx="1002300" cy="525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해당 슬롯에 데이터를 덮어씌워 저장</a:t>
            </a:r>
            <a:endParaRPr sz="900"/>
          </a:p>
        </p:txBody>
      </p:sp>
      <p:sp>
        <p:nvSpPr>
          <p:cNvPr id="165" name="Google Shape;165;p20"/>
          <p:cNvSpPr/>
          <p:nvPr/>
        </p:nvSpPr>
        <p:spPr>
          <a:xfrm>
            <a:off x="4724250" y="3702129"/>
            <a:ext cx="1002300" cy="525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저장 취소, 다른 슬롯 선택</a:t>
            </a:r>
            <a:endParaRPr sz="900"/>
          </a:p>
        </p:txBody>
      </p:sp>
      <p:cxnSp>
        <p:nvCxnSpPr>
          <p:cNvPr id="166" name="Google Shape;166;p20"/>
          <p:cNvCxnSpPr>
            <a:endCxn id="147" idx="2"/>
          </p:cNvCxnSpPr>
          <p:nvPr/>
        </p:nvCxnSpPr>
        <p:spPr>
          <a:xfrm rot="10800000">
            <a:off x="1946650" y="3315879"/>
            <a:ext cx="2777700" cy="6486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7" name="Google Shape;167;p20"/>
          <p:cNvCxnSpPr>
            <a:stCxn id="155" idx="3"/>
            <a:endCxn id="158" idx="0"/>
          </p:cNvCxnSpPr>
          <p:nvPr/>
        </p:nvCxnSpPr>
        <p:spPr>
          <a:xfrm>
            <a:off x="5726550" y="2142129"/>
            <a:ext cx="2604600" cy="6489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168" name="Google Shape;168;p20"/>
          <p:cNvCxnSpPr>
            <a:stCxn id="158" idx="2"/>
            <a:endCxn id="150" idx="0"/>
          </p:cNvCxnSpPr>
          <p:nvPr/>
        </p:nvCxnSpPr>
        <p:spPr>
          <a:xfrm>
            <a:off x="8331150" y="3315879"/>
            <a:ext cx="0" cy="13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9" name="Google Shape;169;p20"/>
          <p:cNvCxnSpPr>
            <a:stCxn id="164" idx="3"/>
            <a:endCxn id="158" idx="1"/>
          </p:cNvCxnSpPr>
          <p:nvPr/>
        </p:nvCxnSpPr>
        <p:spPr>
          <a:xfrm>
            <a:off x="7377813" y="3053379"/>
            <a:ext cx="4521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플레이어 사망(게임 오버)</a:t>
            </a:r>
            <a:endParaRPr/>
          </a:p>
        </p:txBody>
      </p:sp>
      <p:sp>
        <p:nvSpPr>
          <p:cNvPr id="175" name="Google Shape;175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2300" lvl="0" marL="2160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개요</a:t>
            </a:r>
            <a:endParaRPr/>
          </a:p>
          <a:p>
            <a:pPr indent="-209599" lvl="1" marL="575999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ko"/>
              <a:t>플레이어에게 스릴러 게임의 몰입감과 도전 욕구를 불러 일으키기 위한 시스템으로, 각종 사망 연출을 통해 플레이어는 게임에 더욱 몰입하고 흥미롭게 재도전할 수 있다.</a:t>
            </a:r>
            <a:endParaRPr/>
          </a:p>
          <a:p>
            <a:pPr indent="-222300" lvl="0" marL="2160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ko"/>
              <a:t>특징</a:t>
            </a:r>
            <a:endParaRPr/>
          </a:p>
          <a:p>
            <a:pPr indent="-196899" lvl="1" marL="575999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 sz="1400"/>
              <a:t>플레이어가 사망 구역 콜라이더 내부에 있을 시 게임 오버된다.</a:t>
            </a:r>
            <a:endParaRPr sz="1400"/>
          </a:p>
          <a:p>
            <a:pPr indent="-196899" lvl="1" marL="575999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 sz="1400"/>
              <a:t>사망 구역 콜라이더는 어둠 속, 낭떠러지 등의 위험 구역에 존재한다.</a:t>
            </a:r>
            <a:endParaRPr/>
          </a:p>
          <a:p>
            <a:pPr indent="-196899" lvl="1" marL="575999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 sz="1400"/>
              <a:t>게임 오버될 시 로딩 후 마지막 세이브 포인트에서 재시작한다.	</a:t>
            </a:r>
            <a:endParaRPr/>
          </a:p>
          <a:p>
            <a:pPr indent="-196899" lvl="1" marL="575999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ko"/>
              <a:t>사망 구역 콜라이더는 </a:t>
            </a:r>
            <a:r>
              <a:rPr lang="ko"/>
              <a:t>종류</a:t>
            </a:r>
            <a:r>
              <a:rPr lang="ko"/>
              <a:t>에 따라 사망 연출과 게임 오버까지 걸리는 시간이 다르게 처리된다. </a:t>
            </a:r>
            <a:r>
              <a:rPr lang="ko"/>
              <a:t>게임 오버 시에는 재시작 전까지 플레이어의 모든 조작이 비활성화된다.</a:t>
            </a:r>
            <a:endParaRPr/>
          </a:p>
          <a:p>
            <a:pPr indent="-184200" lvl="2" marL="6840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ko" sz="1200"/>
              <a:t>어둠 속: 공포스러운 BGM이 점차 크게 들려오며, 3초가 지날 시 뼈가 부러지는 듯한 섬뜩한 소리와 함께 화면이 암전되고 게임 오버된다. 3</a:t>
            </a:r>
            <a:r>
              <a:rPr lang="ko" sz="1200"/>
              <a:t>초가 지나기 전에 콜라이더 밖으로 나올 시 BGM이 빠르게 종료되고 게임 오버되지 않는다.</a:t>
            </a:r>
            <a:endParaRPr sz="1200"/>
          </a:p>
          <a:p>
            <a:pPr indent="-184200" lvl="2" marL="684000" rtl="0" algn="l">
              <a:spcBef>
                <a:spcPts val="0"/>
              </a:spcBef>
              <a:spcAft>
                <a:spcPts val="0"/>
              </a:spcAft>
              <a:buSzPts val="1200"/>
              <a:buChar char="■"/>
            </a:pPr>
            <a:r>
              <a:rPr lang="ko" sz="1200"/>
              <a:t>낭떠러지: 떨어질 시 강한 공기 파열음과 함께 화면이 암전되고, 뼈가 부러지는 듯한 섬뜩한 소리와 함께 게임 오버된다.</a:t>
            </a: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>
            <p:ph type="title"/>
          </p:nvPr>
        </p:nvSpPr>
        <p:spPr>
          <a:xfrm>
            <a:off x="311700" y="445025"/>
            <a:ext cx="3866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플레이어 사망(게임 오버)</a:t>
            </a:r>
            <a:endParaRPr/>
          </a:p>
        </p:txBody>
      </p:sp>
      <p:sp>
        <p:nvSpPr>
          <p:cNvPr id="181" name="Google Shape;181;p22"/>
          <p:cNvSpPr/>
          <p:nvPr/>
        </p:nvSpPr>
        <p:spPr>
          <a:xfrm>
            <a:off x="1445500" y="1206975"/>
            <a:ext cx="1002300" cy="441000"/>
          </a:xfrm>
          <a:prstGeom prst="roundRect">
            <a:avLst>
              <a:gd fmla="val 50000" name="adj"/>
            </a:avLst>
          </a:prstGeom>
          <a:solidFill>
            <a:srgbClr val="FFD966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게임 오버 플로우 시작</a:t>
            </a:r>
            <a:endParaRPr sz="1000"/>
          </a:p>
        </p:txBody>
      </p:sp>
      <p:cxnSp>
        <p:nvCxnSpPr>
          <p:cNvPr id="182" name="Google Shape;182;p22"/>
          <p:cNvCxnSpPr>
            <a:stCxn id="181" idx="2"/>
          </p:cNvCxnSpPr>
          <p:nvPr/>
        </p:nvCxnSpPr>
        <p:spPr>
          <a:xfrm>
            <a:off x="1946650" y="1647975"/>
            <a:ext cx="0" cy="27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3" name="Google Shape;183;p22"/>
          <p:cNvSpPr/>
          <p:nvPr/>
        </p:nvSpPr>
        <p:spPr>
          <a:xfrm>
            <a:off x="2957025" y="1769371"/>
            <a:ext cx="1118250" cy="745500"/>
          </a:xfrm>
          <a:prstGeom prst="flowChartDecision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7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‘어둠 속’ 구역인가?</a:t>
            </a:r>
            <a:endParaRPr sz="900"/>
          </a:p>
        </p:txBody>
      </p:sp>
      <p:sp>
        <p:nvSpPr>
          <p:cNvPr id="184" name="Google Shape;184;p22"/>
          <p:cNvSpPr/>
          <p:nvPr/>
        </p:nvSpPr>
        <p:spPr>
          <a:xfrm>
            <a:off x="1445500" y="1989879"/>
            <a:ext cx="1002300" cy="525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플레이어가 사망 구역 콜라이더로 진입</a:t>
            </a:r>
            <a:endParaRPr sz="900"/>
          </a:p>
        </p:txBody>
      </p:sp>
      <p:sp>
        <p:nvSpPr>
          <p:cNvPr id="185" name="Google Shape;185;p22"/>
          <p:cNvSpPr txBox="1"/>
          <p:nvPr/>
        </p:nvSpPr>
        <p:spPr>
          <a:xfrm>
            <a:off x="4075350" y="1879621"/>
            <a:ext cx="5187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YES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186" name="Google Shape;186;p22"/>
          <p:cNvCxnSpPr/>
          <p:nvPr/>
        </p:nvCxnSpPr>
        <p:spPr>
          <a:xfrm>
            <a:off x="1946650" y="2514875"/>
            <a:ext cx="0" cy="27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7" name="Google Shape;187;p22"/>
          <p:cNvSpPr/>
          <p:nvPr/>
        </p:nvSpPr>
        <p:spPr>
          <a:xfrm>
            <a:off x="1445500" y="2790879"/>
            <a:ext cx="1002300" cy="525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사망 구역의 종류 식별</a:t>
            </a:r>
            <a:endParaRPr sz="900"/>
          </a:p>
        </p:txBody>
      </p:sp>
      <p:cxnSp>
        <p:nvCxnSpPr>
          <p:cNvPr id="188" name="Google Shape;188;p22"/>
          <p:cNvCxnSpPr/>
          <p:nvPr/>
        </p:nvCxnSpPr>
        <p:spPr>
          <a:xfrm>
            <a:off x="4075350" y="2142129"/>
            <a:ext cx="64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9" name="Google Shape;189;p22"/>
          <p:cNvSpPr txBox="1"/>
          <p:nvPr/>
        </p:nvSpPr>
        <p:spPr>
          <a:xfrm>
            <a:off x="3516150" y="2514871"/>
            <a:ext cx="5187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NO</a:t>
            </a:r>
            <a:endParaRPr sz="800">
              <a:solidFill>
                <a:srgbClr val="595959"/>
              </a:solidFill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7830000" y="4633521"/>
            <a:ext cx="1002300" cy="349500"/>
          </a:xfrm>
          <a:prstGeom prst="roundRect">
            <a:avLst>
              <a:gd fmla="val 50000" name="adj"/>
            </a:avLst>
          </a:prstGeom>
          <a:solidFill>
            <a:srgbClr val="FFD966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1000"/>
              <a:t>게임 오버 종료</a:t>
            </a:r>
            <a:endParaRPr sz="1000"/>
          </a:p>
        </p:txBody>
      </p:sp>
      <p:cxnSp>
        <p:nvCxnSpPr>
          <p:cNvPr id="191" name="Google Shape;191;p22"/>
          <p:cNvCxnSpPr/>
          <p:nvPr/>
        </p:nvCxnSpPr>
        <p:spPr>
          <a:xfrm>
            <a:off x="3516150" y="2514875"/>
            <a:ext cx="0" cy="27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" name="Google Shape;192;p22"/>
          <p:cNvSpPr/>
          <p:nvPr/>
        </p:nvSpPr>
        <p:spPr>
          <a:xfrm>
            <a:off x="2957025" y="2790871"/>
            <a:ext cx="1118250" cy="745500"/>
          </a:xfrm>
          <a:prstGeom prst="flowChartDecision">
            <a:avLst/>
          </a:prstGeom>
          <a:solidFill>
            <a:srgbClr val="F9CB9C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6000" lIns="36000" spcFirstLastPara="1" rIns="36000" wrap="square" tIns="720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‘</a:t>
            </a:r>
            <a:r>
              <a:rPr lang="ko" sz="900"/>
              <a:t>낭떠러지</a:t>
            </a:r>
            <a:r>
              <a:rPr lang="ko" sz="900"/>
              <a:t>’ </a:t>
            </a:r>
            <a:r>
              <a:rPr lang="ko" sz="900"/>
              <a:t>구역</a:t>
            </a:r>
            <a:r>
              <a:rPr lang="ko" sz="900"/>
              <a:t>인가?</a:t>
            </a:r>
            <a:endParaRPr sz="900"/>
          </a:p>
        </p:txBody>
      </p:sp>
      <p:cxnSp>
        <p:nvCxnSpPr>
          <p:cNvPr id="193" name="Google Shape;193;p22"/>
          <p:cNvCxnSpPr>
            <a:stCxn id="187" idx="3"/>
            <a:endCxn id="183" idx="1"/>
          </p:cNvCxnSpPr>
          <p:nvPr/>
        </p:nvCxnSpPr>
        <p:spPr>
          <a:xfrm flipH="1" rot="10800000">
            <a:off x="2447800" y="2141979"/>
            <a:ext cx="509100" cy="911400"/>
          </a:xfrm>
          <a:prstGeom prst="bentConnector3">
            <a:avLst>
              <a:gd fmla="val 50012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sp>
        <p:nvSpPr>
          <p:cNvPr id="194" name="Google Shape;194;p22"/>
          <p:cNvSpPr txBox="1"/>
          <p:nvPr/>
        </p:nvSpPr>
        <p:spPr>
          <a:xfrm>
            <a:off x="3516150" y="3536371"/>
            <a:ext cx="5187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NO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195" name="Google Shape;195;p22"/>
          <p:cNvCxnSpPr/>
          <p:nvPr/>
        </p:nvCxnSpPr>
        <p:spPr>
          <a:xfrm>
            <a:off x="3516150" y="3536375"/>
            <a:ext cx="0" cy="27600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" name="Google Shape;196;p22"/>
          <p:cNvSpPr/>
          <p:nvPr/>
        </p:nvSpPr>
        <p:spPr>
          <a:xfrm>
            <a:off x="3015000" y="3812379"/>
            <a:ext cx="1002300" cy="525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그 외 확정되지 않은 사망 구역 연출 출력</a:t>
            </a:r>
            <a:endParaRPr sz="900"/>
          </a:p>
        </p:txBody>
      </p:sp>
      <p:sp>
        <p:nvSpPr>
          <p:cNvPr id="197" name="Google Shape;197;p22"/>
          <p:cNvSpPr txBox="1"/>
          <p:nvPr/>
        </p:nvSpPr>
        <p:spPr>
          <a:xfrm>
            <a:off x="4075350" y="2902640"/>
            <a:ext cx="518700" cy="27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800">
                <a:solidFill>
                  <a:srgbClr val="595959"/>
                </a:solidFill>
              </a:rPr>
              <a:t>YES</a:t>
            </a:r>
            <a:endParaRPr sz="800">
              <a:solidFill>
                <a:srgbClr val="595959"/>
              </a:solidFill>
            </a:endParaRPr>
          </a:p>
        </p:txBody>
      </p:sp>
      <p:cxnSp>
        <p:nvCxnSpPr>
          <p:cNvPr id="198" name="Google Shape;198;p22"/>
          <p:cNvCxnSpPr/>
          <p:nvPr/>
        </p:nvCxnSpPr>
        <p:spPr>
          <a:xfrm>
            <a:off x="4075350" y="3165148"/>
            <a:ext cx="648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9" name="Google Shape;199;p22"/>
          <p:cNvSpPr/>
          <p:nvPr/>
        </p:nvSpPr>
        <p:spPr>
          <a:xfrm>
            <a:off x="4724250" y="1879629"/>
            <a:ext cx="1002300" cy="525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‘어둠 속’ 사망 연출 출력 이후 게임 오버</a:t>
            </a:r>
            <a:endParaRPr sz="900"/>
          </a:p>
        </p:txBody>
      </p:sp>
      <p:sp>
        <p:nvSpPr>
          <p:cNvPr id="200" name="Google Shape;200;p22"/>
          <p:cNvSpPr/>
          <p:nvPr/>
        </p:nvSpPr>
        <p:spPr>
          <a:xfrm>
            <a:off x="4724250" y="2902654"/>
            <a:ext cx="1002300" cy="525000"/>
          </a:xfrm>
          <a:prstGeom prst="rect">
            <a:avLst/>
          </a:prstGeom>
          <a:solidFill>
            <a:srgbClr val="EEEEEE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/>
              <a:t>‘</a:t>
            </a:r>
            <a:r>
              <a:rPr lang="ko" sz="900"/>
              <a:t>낭떠러지</a:t>
            </a:r>
            <a:r>
              <a:rPr lang="ko" sz="900"/>
              <a:t>’ 사망 연출 출력 이후 게임 오버</a:t>
            </a:r>
            <a:endParaRPr sz="900"/>
          </a:p>
        </p:txBody>
      </p:sp>
      <p:sp>
        <p:nvSpPr>
          <p:cNvPr id="201" name="Google Shape;201;p22"/>
          <p:cNvSpPr/>
          <p:nvPr/>
        </p:nvSpPr>
        <p:spPr>
          <a:xfrm>
            <a:off x="4724250" y="525775"/>
            <a:ext cx="2917200" cy="1122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ko" sz="800"/>
              <a:t>플레이어가 콜라이더 내부에서 3초 경과 시 게임 오버</a:t>
            </a:r>
            <a:endParaRPr sz="800"/>
          </a:p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ko" sz="800"/>
              <a:t>해당 3초 동안 비네트 효과로 시야가 급격하게 좁아지며, 공포스러운 BGM이 출력된다.</a:t>
            </a:r>
            <a:endParaRPr sz="800"/>
          </a:p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ko" sz="800"/>
              <a:t>게임 오버되기 전에 콜라이더 밖으로 나올 경우 시야와 BGM이 빠르게 원래 상태로 돌아온다.</a:t>
            </a:r>
            <a:endParaRPr sz="800"/>
          </a:p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ko" sz="800"/>
              <a:t>게임 오버 시 화면이 까매지며 살점이 철퍽이는 듯한  소리가 출력된다. 이후 마지막 세이브 포인트에서 재시작할지 메인 메뉴로 돌아갈지 버튼을 눌러 선택할 수 있다.</a:t>
            </a:r>
            <a:endParaRPr sz="800"/>
          </a:p>
        </p:txBody>
      </p:sp>
      <p:cxnSp>
        <p:nvCxnSpPr>
          <p:cNvPr id="202" name="Google Shape;202;p22"/>
          <p:cNvCxnSpPr>
            <a:stCxn id="199" idx="0"/>
          </p:cNvCxnSpPr>
          <p:nvPr/>
        </p:nvCxnSpPr>
        <p:spPr>
          <a:xfrm rot="10800000">
            <a:off x="5225400" y="1660029"/>
            <a:ext cx="0" cy="21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3" name="Google Shape;203;p22"/>
          <p:cNvSpPr/>
          <p:nvPr/>
        </p:nvSpPr>
        <p:spPr>
          <a:xfrm>
            <a:off x="4724250" y="3647250"/>
            <a:ext cx="2917200" cy="5727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00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36000" lIns="36000" spcFirstLastPara="1" rIns="36000" wrap="square" tIns="36000">
            <a:noAutofit/>
          </a:bodyPr>
          <a:lstStyle/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ko" sz="800"/>
              <a:t>플레이어가 콜라이더 내부 </a:t>
            </a:r>
            <a:r>
              <a:rPr lang="ko" sz="800"/>
              <a:t>진입 즉시 게임 오버</a:t>
            </a:r>
            <a:endParaRPr sz="800"/>
          </a:p>
          <a:p>
            <a:pPr indent="-86799" lvl="0" marL="107999" rtl="0" algn="l">
              <a:spcBef>
                <a:spcPts val="0"/>
              </a:spcBef>
              <a:spcAft>
                <a:spcPts val="0"/>
              </a:spcAft>
              <a:buSzPts val="800"/>
              <a:buChar char="●"/>
            </a:pPr>
            <a:r>
              <a:rPr lang="ko" sz="800"/>
              <a:t>게임 오버 시 화면이 까매지며, </a:t>
            </a:r>
            <a:r>
              <a:rPr lang="ko" sz="800"/>
              <a:t>빠른 공기 파열음 이후 </a:t>
            </a:r>
            <a:r>
              <a:rPr lang="ko" sz="800"/>
              <a:t> 뼈가 부러지는 듯한 소리가 출력된다. </a:t>
            </a:r>
            <a:r>
              <a:rPr lang="ko" sz="800">
                <a:solidFill>
                  <a:schemeClr val="dk1"/>
                </a:solidFill>
              </a:rPr>
              <a:t>이후 마지막 세이브 포인트에서 재시작할지 메인 메뉴로 돌아갈지 버튼을 눌러 선택할 수 있다.</a:t>
            </a:r>
            <a:endParaRPr sz="800"/>
          </a:p>
        </p:txBody>
      </p:sp>
      <p:cxnSp>
        <p:nvCxnSpPr>
          <p:cNvPr id="204" name="Google Shape;204;p22"/>
          <p:cNvCxnSpPr/>
          <p:nvPr/>
        </p:nvCxnSpPr>
        <p:spPr>
          <a:xfrm rot="10800000">
            <a:off x="5225400" y="3427654"/>
            <a:ext cx="0" cy="219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2"/>
          <p:cNvCxnSpPr>
            <a:stCxn id="199" idx="3"/>
            <a:endCxn id="190" idx="0"/>
          </p:cNvCxnSpPr>
          <p:nvPr/>
        </p:nvCxnSpPr>
        <p:spPr>
          <a:xfrm>
            <a:off x="5726550" y="2142129"/>
            <a:ext cx="2604600" cy="2491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6" name="Google Shape;206;p22"/>
          <p:cNvCxnSpPr>
            <a:stCxn id="200" idx="3"/>
            <a:endCxn id="190" idx="0"/>
          </p:cNvCxnSpPr>
          <p:nvPr/>
        </p:nvCxnSpPr>
        <p:spPr>
          <a:xfrm>
            <a:off x="5726550" y="3165154"/>
            <a:ext cx="2604600" cy="14685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07" name="Google Shape;207;p22"/>
          <p:cNvCxnSpPr>
            <a:stCxn id="196" idx="2"/>
            <a:endCxn id="190" idx="1"/>
          </p:cNvCxnSpPr>
          <p:nvPr/>
        </p:nvCxnSpPr>
        <p:spPr>
          <a:xfrm flipH="1" rot="-5400000">
            <a:off x="5437650" y="2415879"/>
            <a:ext cx="471000" cy="4314000"/>
          </a:xfrm>
          <a:prstGeom prst="bentConnector2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stealth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